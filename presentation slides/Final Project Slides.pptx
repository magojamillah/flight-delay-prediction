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9" r:id="rId4"/>
    <p:sldId id="258" r:id="rId5"/>
    <p:sldId id="261" r:id="rId6"/>
    <p:sldId id="262" r:id="rId7"/>
    <p:sldId id="260" r:id="rId8"/>
    <p:sldId id="263" r:id="rId9"/>
    <p:sldId id="264" r:id="rId10"/>
    <p:sldId id="266" r:id="rId11"/>
    <p:sldId id="265"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1713014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2210182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43061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3F2E3A-13CE-40D7-B214-167B9C605517}" type="datetimeFigureOut">
              <a:rPr lang="en-UG" smtClean="0"/>
              <a:t>28/04/2026</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1656196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3F2E3A-13CE-40D7-B214-167B9C605517}" type="datetimeFigureOut">
              <a:rPr lang="en-UG" smtClean="0"/>
              <a:t>28/04/2026</a:t>
            </a:fld>
            <a:endParaRPr lang="en-UG"/>
          </a:p>
        </p:txBody>
      </p:sp>
      <p:sp>
        <p:nvSpPr>
          <p:cNvPr id="8" name="Footer Placeholder 7"/>
          <p:cNvSpPr>
            <a:spLocks noGrp="1"/>
          </p:cNvSpPr>
          <p:nvPr>
            <p:ph type="ftr" sz="quarter" idx="11"/>
          </p:nvPr>
        </p:nvSpPr>
        <p:spPr/>
        <p:txBody>
          <a:bodyPr/>
          <a:lstStyle/>
          <a:p>
            <a:endParaRPr lang="en-UG"/>
          </a:p>
        </p:txBody>
      </p:sp>
      <p:sp>
        <p:nvSpPr>
          <p:cNvPr id="9" name="Slide Number Placeholder 8"/>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3798695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3F2E3A-13CE-40D7-B214-167B9C605517}" type="datetimeFigureOut">
              <a:rPr lang="en-UG" smtClean="0"/>
              <a:t>28/04/2026</a:t>
            </a:fld>
            <a:endParaRPr lang="en-UG"/>
          </a:p>
        </p:txBody>
      </p:sp>
      <p:sp>
        <p:nvSpPr>
          <p:cNvPr id="4" name="Footer Placeholder 3"/>
          <p:cNvSpPr>
            <a:spLocks noGrp="1"/>
          </p:cNvSpPr>
          <p:nvPr>
            <p:ph type="ftr" sz="quarter" idx="11"/>
          </p:nvPr>
        </p:nvSpPr>
        <p:spPr/>
        <p:txBody>
          <a:bodyPr/>
          <a:lstStyle/>
          <a:p>
            <a:endParaRPr lang="en-UG"/>
          </a:p>
        </p:txBody>
      </p:sp>
      <p:sp>
        <p:nvSpPr>
          <p:cNvPr id="5" name="Slide Number Placeholder 4"/>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3807530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3F2E3A-13CE-40D7-B214-167B9C605517}" type="datetimeFigureOut">
              <a:rPr lang="en-UG" smtClean="0"/>
              <a:t>28/04/2026</a:t>
            </a:fld>
            <a:endParaRPr lang="en-UG"/>
          </a:p>
        </p:txBody>
      </p:sp>
      <p:sp>
        <p:nvSpPr>
          <p:cNvPr id="3" name="Footer Placeholder 2"/>
          <p:cNvSpPr>
            <a:spLocks noGrp="1"/>
          </p:cNvSpPr>
          <p:nvPr>
            <p:ph type="ftr" sz="quarter" idx="11"/>
          </p:nvPr>
        </p:nvSpPr>
        <p:spPr/>
        <p:txBody>
          <a:bodyPr/>
          <a:lstStyle/>
          <a:p>
            <a:endParaRPr lang="en-UG"/>
          </a:p>
        </p:txBody>
      </p:sp>
      <p:sp>
        <p:nvSpPr>
          <p:cNvPr id="4" name="Slide Number Placeholder 3"/>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1294486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3F2E3A-13CE-40D7-B214-167B9C605517}" type="datetimeFigureOut">
              <a:rPr lang="en-UG" smtClean="0"/>
              <a:t>28/04/2026</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1944395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3F2E3A-13CE-40D7-B214-167B9C605517}" type="datetimeFigureOut">
              <a:rPr lang="en-UG" smtClean="0"/>
              <a:t>28/04/2026</a:t>
            </a:fld>
            <a:endParaRPr lang="en-UG"/>
          </a:p>
        </p:txBody>
      </p:sp>
      <p:sp>
        <p:nvSpPr>
          <p:cNvPr id="6" name="Footer Placeholder 5"/>
          <p:cNvSpPr>
            <a:spLocks noGrp="1"/>
          </p:cNvSpPr>
          <p:nvPr>
            <p:ph type="ftr" sz="quarter" idx="11"/>
          </p:nvPr>
        </p:nvSpPr>
        <p:spPr/>
        <p:txBody>
          <a:bodyPr/>
          <a:lstStyle/>
          <a:p>
            <a:endParaRPr lang="en-UG"/>
          </a:p>
        </p:txBody>
      </p:sp>
      <p:sp>
        <p:nvSpPr>
          <p:cNvPr id="7" name="Slide Number Placeholder 6"/>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3557420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2366608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791111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2120385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56771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1586886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461275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F2E3A-13CE-40D7-B214-167B9C605517}" type="datetimeFigureOut">
              <a:rPr lang="en-UG" smtClean="0"/>
              <a:t>28/04/2026</a:t>
            </a:fld>
            <a:endParaRPr lang="en-UG"/>
          </a:p>
        </p:txBody>
      </p:sp>
      <p:sp>
        <p:nvSpPr>
          <p:cNvPr id="5" name="Footer Placeholder 4"/>
          <p:cNvSpPr>
            <a:spLocks noGrp="1"/>
          </p:cNvSpPr>
          <p:nvPr>
            <p:ph type="ftr" sz="quarter" idx="11"/>
          </p:nvPr>
        </p:nvSpPr>
        <p:spPr/>
        <p:txBody>
          <a:bodyPr/>
          <a:lstStyle/>
          <a:p>
            <a:endParaRPr lang="en-UG"/>
          </a:p>
        </p:txBody>
      </p:sp>
      <p:sp>
        <p:nvSpPr>
          <p:cNvPr id="6" name="Slide Number Placeholder 5"/>
          <p:cNvSpPr>
            <a:spLocks noGrp="1"/>
          </p:cNvSpPr>
          <p:nvPr>
            <p:ph type="sldNum" sz="quarter" idx="12"/>
          </p:nvPr>
        </p:nvSpPr>
        <p:spPr/>
        <p:txBody>
          <a:bodyPr/>
          <a:lstStyle/>
          <a:p>
            <a:fld id="{B728BEF4-4A79-403C-A84E-333752AD1642}" type="slidenum">
              <a:rPr lang="en-UG" smtClean="0"/>
              <a:t>‹#›</a:t>
            </a:fld>
            <a:endParaRPr lang="en-UG"/>
          </a:p>
        </p:txBody>
      </p:sp>
    </p:spTree>
    <p:extLst>
      <p:ext uri="{BB962C8B-B14F-4D97-AF65-F5344CB8AC3E}">
        <p14:creationId xmlns:p14="http://schemas.microsoft.com/office/powerpoint/2010/main" val="2467490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93F2E3A-13CE-40D7-B214-167B9C605517}" type="datetimeFigureOut">
              <a:rPr lang="en-UG" smtClean="0"/>
              <a:t>28/04/2026</a:t>
            </a:fld>
            <a:endParaRPr lang="en-UG"/>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G"/>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728BEF4-4A79-403C-A84E-333752AD1642}" type="slidenum">
              <a:rPr lang="en-UG" smtClean="0"/>
              <a:t>‹#›</a:t>
            </a:fld>
            <a:endParaRPr lang="en-UG"/>
          </a:p>
        </p:txBody>
      </p:sp>
      <p:sp>
        <p:nvSpPr>
          <p:cNvPr id="8" name="TextBox 7">
            <a:extLst>
              <a:ext uri="{FF2B5EF4-FFF2-40B4-BE49-F238E27FC236}">
                <a16:creationId xmlns:a16="http://schemas.microsoft.com/office/drawing/2014/main" id="{114EF0CA-3342-8727-5846-09B469D7D5DD}"/>
              </a:ext>
            </a:extLst>
          </p:cNvPr>
          <p:cNvSpPr txBox="1"/>
          <p:nvPr userDrawn="1">
            <p:extLst>
              <p:ext uri="{1162E1C5-73C7-4A58-AE30-91384D911F3F}">
                <p184:classification xmlns:p184="http://schemas.microsoft.com/office/powerpoint/2018/4/main" val="ftr"/>
              </p:ext>
            </p:extLst>
          </p:nvPr>
        </p:nvSpPr>
        <p:spPr>
          <a:xfrm>
            <a:off x="63500" y="6642100"/>
            <a:ext cx="990600" cy="152400"/>
          </a:xfrm>
          <a:prstGeom prst="rect">
            <a:avLst/>
          </a:prstGeom>
        </p:spPr>
        <p:txBody>
          <a:bodyPr horzOverflow="overflow" lIns="0" tIns="0" rIns="0" bIns="0">
            <a:spAutoFit/>
          </a:bodyPr>
          <a:lstStyle/>
          <a:p>
            <a:pPr algn="l"/>
            <a:r>
              <a:rPr lang="en-UG" sz="1000">
                <a:solidFill>
                  <a:srgbClr val="000000">
                    <a:alpha val="50000"/>
                  </a:srgbClr>
                </a:solidFill>
                <a:latin typeface="Aptos" panose="020B0004020202020204" pitchFamily="34" charset="0"/>
              </a:rPr>
              <a:t>Sensitivity: Public</a:t>
            </a:r>
          </a:p>
        </p:txBody>
      </p:sp>
    </p:spTree>
    <p:extLst>
      <p:ext uri="{BB962C8B-B14F-4D97-AF65-F5344CB8AC3E}">
        <p14:creationId xmlns:p14="http://schemas.microsoft.com/office/powerpoint/2010/main" val="168183377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mavenanalytics.io/dataplayground/airline-flight-delay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E7EE6-1104-5270-9FA7-1326B30F0D0B}"/>
              </a:ext>
            </a:extLst>
          </p:cNvPr>
          <p:cNvSpPr>
            <a:spLocks noGrp="1"/>
          </p:cNvSpPr>
          <p:nvPr>
            <p:ph type="ctrTitle"/>
          </p:nvPr>
        </p:nvSpPr>
        <p:spPr>
          <a:xfrm>
            <a:off x="1524000" y="945689"/>
            <a:ext cx="9144000" cy="1551705"/>
          </a:xfrm>
        </p:spPr>
        <p:txBody>
          <a:bodyPr>
            <a:normAutofit fontScale="90000"/>
          </a:bodyPr>
          <a:lstStyle/>
          <a:p>
            <a:pPr algn="l"/>
            <a:r>
              <a:rPr lang="en-GB" sz="4800" dirty="0"/>
              <a:t>FLIGHT DELAY PREDICTION USING MACHINE LEARNING</a:t>
            </a:r>
            <a:endParaRPr lang="en-UG" sz="4800" dirty="0"/>
          </a:p>
        </p:txBody>
      </p:sp>
      <p:sp>
        <p:nvSpPr>
          <p:cNvPr id="3" name="Subtitle 2">
            <a:extLst>
              <a:ext uri="{FF2B5EF4-FFF2-40B4-BE49-F238E27FC236}">
                <a16:creationId xmlns:a16="http://schemas.microsoft.com/office/drawing/2014/main" id="{0D996387-B4B5-F72C-498A-18A2FB08D9FD}"/>
              </a:ext>
            </a:extLst>
          </p:cNvPr>
          <p:cNvSpPr>
            <a:spLocks noGrp="1"/>
          </p:cNvSpPr>
          <p:nvPr>
            <p:ph type="subTitle" idx="1"/>
          </p:nvPr>
        </p:nvSpPr>
        <p:spPr>
          <a:xfrm>
            <a:off x="1524000" y="3503717"/>
            <a:ext cx="9144000" cy="733988"/>
          </a:xfrm>
        </p:spPr>
        <p:txBody>
          <a:bodyPr>
            <a:normAutofit fontScale="92500" lnSpcReduction="20000"/>
          </a:bodyPr>
          <a:lstStyle/>
          <a:p>
            <a:pPr algn="l"/>
            <a:r>
              <a:rPr lang="en-US" sz="2800" dirty="0"/>
              <a:t>PREDICTING AIRLINE ARRIVAL DELAYS USING U.S. DOT FLIGHT DATA (2015)</a:t>
            </a:r>
          </a:p>
        </p:txBody>
      </p:sp>
      <p:sp>
        <p:nvSpPr>
          <p:cNvPr id="4" name="Subtitle 2">
            <a:extLst>
              <a:ext uri="{FF2B5EF4-FFF2-40B4-BE49-F238E27FC236}">
                <a16:creationId xmlns:a16="http://schemas.microsoft.com/office/drawing/2014/main" id="{8C43E7F3-5DAD-127A-BB71-B3270876016C}"/>
              </a:ext>
            </a:extLst>
          </p:cNvPr>
          <p:cNvSpPr txBox="1">
            <a:spLocks/>
          </p:cNvSpPr>
          <p:nvPr/>
        </p:nvSpPr>
        <p:spPr>
          <a:xfrm>
            <a:off x="1524000" y="4788313"/>
            <a:ext cx="9144000" cy="7339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NAMUTEBI JAMILLAH MAGO</a:t>
            </a:r>
          </a:p>
        </p:txBody>
      </p:sp>
    </p:spTree>
    <p:extLst>
      <p:ext uri="{BB962C8B-B14F-4D97-AF65-F5344CB8AC3E}">
        <p14:creationId xmlns:p14="http://schemas.microsoft.com/office/powerpoint/2010/main" val="639498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8E6BC-9DC1-0997-C766-9789AE682545}"/>
              </a:ext>
            </a:extLst>
          </p:cNvPr>
          <p:cNvSpPr>
            <a:spLocks noGrp="1"/>
          </p:cNvSpPr>
          <p:nvPr>
            <p:ph type="title"/>
          </p:nvPr>
        </p:nvSpPr>
        <p:spPr>
          <a:xfrm>
            <a:off x="454742" y="256970"/>
            <a:ext cx="10515600" cy="696759"/>
          </a:xfrm>
        </p:spPr>
        <p:txBody>
          <a:bodyPr>
            <a:normAutofit/>
          </a:bodyPr>
          <a:lstStyle/>
          <a:p>
            <a:r>
              <a:rPr lang="en-GB" sz="3400" dirty="0"/>
              <a:t>PROBLEM STATEMENT:</a:t>
            </a:r>
            <a:endParaRPr lang="en-UG" sz="3400" dirty="0"/>
          </a:p>
        </p:txBody>
      </p:sp>
      <p:sp>
        <p:nvSpPr>
          <p:cNvPr id="3" name="Content Placeholder 2">
            <a:extLst>
              <a:ext uri="{FF2B5EF4-FFF2-40B4-BE49-F238E27FC236}">
                <a16:creationId xmlns:a16="http://schemas.microsoft.com/office/drawing/2014/main" id="{B01F639F-7CA6-25B1-B2D8-3ABFECEC135C}"/>
              </a:ext>
            </a:extLst>
          </p:cNvPr>
          <p:cNvSpPr>
            <a:spLocks noGrp="1"/>
          </p:cNvSpPr>
          <p:nvPr>
            <p:ph idx="1"/>
          </p:nvPr>
        </p:nvSpPr>
        <p:spPr>
          <a:xfrm>
            <a:off x="454741" y="983225"/>
            <a:ext cx="11147323" cy="5417574"/>
          </a:xfrm>
        </p:spPr>
        <p:txBody>
          <a:bodyPr>
            <a:normAutofit/>
          </a:bodyPr>
          <a:lstStyle/>
          <a:p>
            <a:r>
              <a:rPr lang="en-US" sz="2400" dirty="0"/>
              <a:t>Air travel delays are a major challenge in the aviation industry, affecting passengers, airlines, and airport operations.</a:t>
            </a:r>
          </a:p>
          <a:p>
            <a:r>
              <a:rPr lang="en-US" sz="2400" dirty="0"/>
              <a:t>Flight delays lead to: </a:t>
            </a:r>
          </a:p>
          <a:p>
            <a:pPr lvl="1"/>
            <a:r>
              <a:rPr lang="en-US" dirty="0"/>
              <a:t>Increased operational costs for airlines </a:t>
            </a:r>
          </a:p>
          <a:p>
            <a:pPr lvl="1"/>
            <a:r>
              <a:rPr lang="en-US" dirty="0"/>
              <a:t>Passenger dissatisfaction and missed connections </a:t>
            </a:r>
          </a:p>
          <a:p>
            <a:pPr lvl="1"/>
            <a:r>
              <a:rPr lang="en-US" dirty="0"/>
              <a:t>Inefficient airport resource utilization </a:t>
            </a:r>
          </a:p>
          <a:p>
            <a:r>
              <a:rPr lang="en-US" sz="2400" dirty="0"/>
              <a:t>Despite the availability of large volumes of flight data, predicting delays accurately remains complex due to multiple influencing factors such as weather, airline operations, and airport congestion.</a:t>
            </a:r>
          </a:p>
          <a:p>
            <a:pPr marL="0" indent="0">
              <a:buNone/>
            </a:pPr>
            <a:r>
              <a:rPr lang="en-US" sz="2400" b="1" dirty="0"/>
              <a:t>Goal of this project:</a:t>
            </a:r>
            <a:br>
              <a:rPr lang="en-US" sz="2400" dirty="0"/>
            </a:br>
            <a:r>
              <a:rPr lang="en-US" sz="2400" dirty="0"/>
              <a:t>To develop a machine learning model that predicts </a:t>
            </a:r>
            <a:r>
              <a:rPr lang="en-US" sz="2400" b="1" dirty="0"/>
              <a:t>flight arrival delay duration</a:t>
            </a:r>
            <a:r>
              <a:rPr lang="en-US" sz="2400" dirty="0"/>
              <a:t> using historical flight data.</a:t>
            </a:r>
          </a:p>
          <a:p>
            <a:pPr marL="0" indent="0">
              <a:buNone/>
            </a:pPr>
            <a:endParaRPr lang="en-UG" sz="2400" dirty="0"/>
          </a:p>
        </p:txBody>
      </p:sp>
    </p:spTree>
    <p:extLst>
      <p:ext uri="{BB962C8B-B14F-4D97-AF65-F5344CB8AC3E}">
        <p14:creationId xmlns:p14="http://schemas.microsoft.com/office/powerpoint/2010/main" val="261061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9A04D-42EF-36C7-4F94-23FA417AD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1E636-009C-BB73-1290-1FFD2597519C}"/>
              </a:ext>
            </a:extLst>
          </p:cNvPr>
          <p:cNvSpPr>
            <a:spLocks noGrp="1"/>
          </p:cNvSpPr>
          <p:nvPr>
            <p:ph type="title"/>
          </p:nvPr>
        </p:nvSpPr>
        <p:spPr>
          <a:xfrm>
            <a:off x="454742" y="325794"/>
            <a:ext cx="10515600" cy="696759"/>
          </a:xfrm>
        </p:spPr>
        <p:txBody>
          <a:bodyPr>
            <a:normAutofit/>
          </a:bodyPr>
          <a:lstStyle/>
          <a:p>
            <a:r>
              <a:rPr lang="en-GB" sz="3400" dirty="0"/>
              <a:t>PROJECT OBJECTIVES:</a:t>
            </a:r>
            <a:endParaRPr lang="en-UG" sz="3400" dirty="0"/>
          </a:p>
        </p:txBody>
      </p:sp>
      <p:sp>
        <p:nvSpPr>
          <p:cNvPr id="3" name="Content Placeholder 2">
            <a:extLst>
              <a:ext uri="{FF2B5EF4-FFF2-40B4-BE49-F238E27FC236}">
                <a16:creationId xmlns:a16="http://schemas.microsoft.com/office/drawing/2014/main" id="{EE28D88D-BD17-3B6F-6BD9-D4F5D8320FE9}"/>
              </a:ext>
            </a:extLst>
          </p:cNvPr>
          <p:cNvSpPr>
            <a:spLocks noGrp="1"/>
          </p:cNvSpPr>
          <p:nvPr>
            <p:ph idx="1"/>
          </p:nvPr>
        </p:nvSpPr>
        <p:spPr>
          <a:xfrm>
            <a:off x="454741" y="1288025"/>
            <a:ext cx="11147323" cy="4532673"/>
          </a:xfrm>
        </p:spPr>
        <p:txBody>
          <a:bodyPr>
            <a:normAutofit/>
          </a:bodyPr>
          <a:lstStyle/>
          <a:p>
            <a:pPr>
              <a:buFont typeface="Wingdings" panose="05000000000000000000" pitchFamily="2" charset="2"/>
              <a:buChar char="Ø"/>
            </a:pPr>
            <a:r>
              <a:rPr lang="en-UG" sz="2400" dirty="0"/>
              <a:t>Analy</a:t>
            </a:r>
            <a:r>
              <a:rPr lang="en-GB" sz="2400" dirty="0"/>
              <a:t>s</a:t>
            </a:r>
            <a:r>
              <a:rPr lang="en-UG" sz="2400" dirty="0"/>
              <a:t>e historical flight data to identify delay patterns</a:t>
            </a:r>
            <a:endParaRPr lang="en-GB" sz="2400" dirty="0"/>
          </a:p>
          <a:p>
            <a:pPr>
              <a:buFont typeface="Wingdings" panose="05000000000000000000" pitchFamily="2" charset="2"/>
              <a:buChar char="Ø"/>
            </a:pPr>
            <a:r>
              <a:rPr lang="en-UG" sz="2400" dirty="0"/>
              <a:t>Perform data cleaning and feature engineering</a:t>
            </a:r>
            <a:endParaRPr lang="en-GB" sz="2400" dirty="0"/>
          </a:p>
          <a:p>
            <a:pPr>
              <a:buFont typeface="Wingdings" panose="05000000000000000000" pitchFamily="2" charset="2"/>
              <a:buChar char="Ø"/>
            </a:pPr>
            <a:r>
              <a:rPr lang="en-UG" sz="2400" dirty="0"/>
              <a:t>Build predictive models:</a:t>
            </a:r>
            <a:r>
              <a:rPr lang="en-GB" sz="2400" dirty="0"/>
              <a:t> C</a:t>
            </a:r>
            <a:r>
              <a:rPr lang="en-UG" sz="2400" dirty="0" err="1"/>
              <a:t>lassical</a:t>
            </a:r>
            <a:r>
              <a:rPr lang="en-UG" sz="2400" dirty="0"/>
              <a:t> Machine Learning model</a:t>
            </a:r>
            <a:r>
              <a:rPr lang="en-GB" sz="2400" dirty="0"/>
              <a:t> &amp; </a:t>
            </a:r>
            <a:r>
              <a:rPr lang="en-UG" sz="2400" dirty="0"/>
              <a:t>Neural Network model</a:t>
            </a:r>
            <a:endParaRPr lang="en-GB" sz="2400" dirty="0"/>
          </a:p>
          <a:p>
            <a:pPr>
              <a:buFont typeface="Wingdings" panose="05000000000000000000" pitchFamily="2" charset="2"/>
              <a:buChar char="Ø"/>
            </a:pPr>
            <a:r>
              <a:rPr lang="en-UG" sz="2400" dirty="0"/>
              <a:t>Evaluate model performance using appropriate metrics</a:t>
            </a:r>
            <a:endParaRPr lang="en-GB" sz="2400" dirty="0"/>
          </a:p>
          <a:p>
            <a:pPr>
              <a:buFont typeface="Wingdings" panose="05000000000000000000" pitchFamily="2" charset="2"/>
              <a:buChar char="Ø"/>
            </a:pPr>
            <a:r>
              <a:rPr lang="en-UG" sz="2400" dirty="0"/>
              <a:t>Develop a simple interface to demonstrate predictions</a:t>
            </a:r>
          </a:p>
        </p:txBody>
      </p:sp>
    </p:spTree>
    <p:extLst>
      <p:ext uri="{BB962C8B-B14F-4D97-AF65-F5344CB8AC3E}">
        <p14:creationId xmlns:p14="http://schemas.microsoft.com/office/powerpoint/2010/main" val="732441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AADAF-9C4C-FF3E-5AA1-9C4C1E3EC7A7}"/>
              </a:ext>
            </a:extLst>
          </p:cNvPr>
          <p:cNvSpPr>
            <a:spLocks noGrp="1"/>
          </p:cNvSpPr>
          <p:nvPr>
            <p:ph type="title"/>
          </p:nvPr>
        </p:nvSpPr>
        <p:spPr>
          <a:xfrm>
            <a:off x="557688" y="298441"/>
            <a:ext cx="10066122" cy="635625"/>
          </a:xfrm>
        </p:spPr>
        <p:txBody>
          <a:bodyPr anchor="b">
            <a:normAutofit/>
          </a:bodyPr>
          <a:lstStyle/>
          <a:p>
            <a:r>
              <a:rPr lang="en-US" sz="3400" dirty="0"/>
              <a:t>DATASET OVERVIEW</a:t>
            </a:r>
            <a:endParaRPr lang="en-UG" sz="3400" dirty="0"/>
          </a:p>
        </p:txBody>
      </p:sp>
      <p:sp>
        <p:nvSpPr>
          <p:cNvPr id="3" name="Content Placeholder 2">
            <a:extLst>
              <a:ext uri="{FF2B5EF4-FFF2-40B4-BE49-F238E27FC236}">
                <a16:creationId xmlns:a16="http://schemas.microsoft.com/office/drawing/2014/main" id="{42515FA2-86E7-2705-AC3C-4575260E280A}"/>
              </a:ext>
            </a:extLst>
          </p:cNvPr>
          <p:cNvSpPr>
            <a:spLocks noGrp="1"/>
          </p:cNvSpPr>
          <p:nvPr>
            <p:ph idx="1"/>
          </p:nvPr>
        </p:nvSpPr>
        <p:spPr>
          <a:xfrm>
            <a:off x="557688" y="1095172"/>
            <a:ext cx="10208636" cy="1987369"/>
          </a:xfrm>
        </p:spPr>
        <p:txBody>
          <a:bodyPr anchor="ctr">
            <a:normAutofit/>
          </a:bodyPr>
          <a:lstStyle/>
          <a:p>
            <a:pPr marL="0" indent="0">
              <a:buNone/>
            </a:pPr>
            <a:r>
              <a:rPr lang="en-US" sz="2000" dirty="0"/>
              <a:t>The dataset contains records for over 5,000,000+ commercial airline flights in 2015, compiled for the U.S. DOT Air Travel Consumer Report. Each record represents a single flight, including the airline name, flight number, origin/destination airport and flight distance, as well as scheduled/actual departure and arrival times. It was obtained from Maven Analytics Data Playground (</a:t>
            </a:r>
            <a:r>
              <a:rPr lang="en-US" sz="2000" dirty="0">
                <a:hlinkClick r:id="rId2"/>
              </a:rPr>
              <a:t>https://mavenanalytics.io/dataplayground/airline-flight-delays</a:t>
            </a:r>
            <a:r>
              <a:rPr lang="en-US" sz="2000" dirty="0"/>
              <a:t>). It contains four tables:</a:t>
            </a:r>
          </a:p>
          <a:p>
            <a:pPr marL="0" indent="0">
              <a:buNone/>
            </a:pPr>
            <a:endParaRPr lang="en-UG" sz="2000" dirty="0"/>
          </a:p>
        </p:txBody>
      </p:sp>
      <p:graphicFrame>
        <p:nvGraphicFramePr>
          <p:cNvPr id="4" name="Table 3">
            <a:extLst>
              <a:ext uri="{FF2B5EF4-FFF2-40B4-BE49-F238E27FC236}">
                <a16:creationId xmlns:a16="http://schemas.microsoft.com/office/drawing/2014/main" id="{BBBCFB2E-5389-A58B-D633-9E916F8D9A9E}"/>
              </a:ext>
            </a:extLst>
          </p:cNvPr>
          <p:cNvGraphicFramePr>
            <a:graphicFrameLocks noGrp="1"/>
          </p:cNvGraphicFramePr>
          <p:nvPr>
            <p:extLst>
              <p:ext uri="{D42A27DB-BD31-4B8C-83A1-F6EECF244321}">
                <p14:modId xmlns:p14="http://schemas.microsoft.com/office/powerpoint/2010/main" val="721616354"/>
              </p:ext>
            </p:extLst>
          </p:nvPr>
        </p:nvGraphicFramePr>
        <p:xfrm>
          <a:off x="636344" y="3171030"/>
          <a:ext cx="9638364" cy="3304258"/>
        </p:xfrm>
        <a:graphic>
          <a:graphicData uri="http://schemas.openxmlformats.org/drawingml/2006/table">
            <a:tbl>
              <a:tblPr>
                <a:tableStyleId>{8799B23B-EC83-4686-B30A-512413B5E67A}</a:tableStyleId>
              </a:tblPr>
              <a:tblGrid>
                <a:gridCol w="2283835">
                  <a:extLst>
                    <a:ext uri="{9D8B030D-6E8A-4147-A177-3AD203B41FA5}">
                      <a16:colId xmlns:a16="http://schemas.microsoft.com/office/drawing/2014/main" val="3816583468"/>
                    </a:ext>
                  </a:extLst>
                </a:gridCol>
                <a:gridCol w="4375354">
                  <a:extLst>
                    <a:ext uri="{9D8B030D-6E8A-4147-A177-3AD203B41FA5}">
                      <a16:colId xmlns:a16="http://schemas.microsoft.com/office/drawing/2014/main" val="716731393"/>
                    </a:ext>
                  </a:extLst>
                </a:gridCol>
                <a:gridCol w="2979175">
                  <a:extLst>
                    <a:ext uri="{9D8B030D-6E8A-4147-A177-3AD203B41FA5}">
                      <a16:colId xmlns:a16="http://schemas.microsoft.com/office/drawing/2014/main" val="3804814933"/>
                    </a:ext>
                  </a:extLst>
                </a:gridCol>
              </a:tblGrid>
              <a:tr h="363468">
                <a:tc>
                  <a:txBody>
                    <a:bodyPr/>
                    <a:lstStyle/>
                    <a:p>
                      <a:pPr>
                        <a:buNone/>
                      </a:pPr>
                      <a:r>
                        <a:rPr lang="en-US" sz="1600"/>
                        <a:t>Table Name</a:t>
                      </a:r>
                    </a:p>
                  </a:txBody>
                  <a:tcPr marL="82606" marR="82606" marT="41303" marB="41303" anchor="ctr"/>
                </a:tc>
                <a:tc>
                  <a:txBody>
                    <a:bodyPr/>
                    <a:lstStyle/>
                    <a:p>
                      <a:pPr>
                        <a:buNone/>
                      </a:pPr>
                      <a:r>
                        <a:rPr lang="en-US" sz="1600"/>
                        <a:t>Description</a:t>
                      </a:r>
                    </a:p>
                  </a:txBody>
                  <a:tcPr marL="82606" marR="82606" marT="41303" marB="41303" anchor="ctr"/>
                </a:tc>
                <a:tc>
                  <a:txBody>
                    <a:bodyPr/>
                    <a:lstStyle/>
                    <a:p>
                      <a:pPr>
                        <a:buNone/>
                      </a:pPr>
                      <a:r>
                        <a:rPr lang="en-US" sz="1600"/>
                        <a:t>Size</a:t>
                      </a:r>
                    </a:p>
                  </a:txBody>
                  <a:tcPr marL="82606" marR="82606" marT="41303" marB="41303" anchor="ctr"/>
                </a:tc>
                <a:extLst>
                  <a:ext uri="{0D108BD9-81ED-4DB2-BD59-A6C34878D82A}">
                    <a16:rowId xmlns:a16="http://schemas.microsoft.com/office/drawing/2014/main" val="3703416380"/>
                  </a:ext>
                </a:extLst>
              </a:tr>
              <a:tr h="611288">
                <a:tc>
                  <a:txBody>
                    <a:bodyPr/>
                    <a:lstStyle/>
                    <a:p>
                      <a:pPr>
                        <a:buNone/>
                      </a:pPr>
                      <a:r>
                        <a:rPr lang="en-US" sz="1600"/>
                        <a:t>Airlines</a:t>
                      </a:r>
                    </a:p>
                  </a:txBody>
                  <a:tcPr marL="82606" marR="82606" marT="41303" marB="41303" anchor="ctr"/>
                </a:tc>
                <a:tc>
                  <a:txBody>
                    <a:bodyPr/>
                    <a:lstStyle/>
                    <a:p>
                      <a:pPr>
                        <a:buNone/>
                      </a:pPr>
                      <a:r>
                        <a:rPr lang="en-US" sz="1600"/>
                        <a:t>Airline codes and names</a:t>
                      </a:r>
                    </a:p>
                  </a:txBody>
                  <a:tcPr marL="82606" marR="82606" marT="41303" marB="41303" anchor="ctr"/>
                </a:tc>
                <a:tc>
                  <a:txBody>
                    <a:bodyPr/>
                    <a:lstStyle/>
                    <a:p>
                      <a:pPr>
                        <a:buNone/>
                      </a:pPr>
                      <a:r>
                        <a:rPr lang="en-US" sz="1600"/>
                        <a:t>14 rows</a:t>
                      </a:r>
                    </a:p>
                  </a:txBody>
                  <a:tcPr marL="82606" marR="82606" marT="41303" marB="41303" anchor="ctr"/>
                </a:tc>
                <a:extLst>
                  <a:ext uri="{0D108BD9-81ED-4DB2-BD59-A6C34878D82A}">
                    <a16:rowId xmlns:a16="http://schemas.microsoft.com/office/drawing/2014/main" val="1932360971"/>
                  </a:ext>
                </a:extLst>
              </a:tr>
              <a:tr h="859107">
                <a:tc>
                  <a:txBody>
                    <a:bodyPr/>
                    <a:lstStyle/>
                    <a:p>
                      <a:pPr>
                        <a:buNone/>
                      </a:pPr>
                      <a:r>
                        <a:rPr lang="en-US" sz="1600"/>
                        <a:t>Airports</a:t>
                      </a:r>
                    </a:p>
                  </a:txBody>
                  <a:tcPr marL="82606" marR="82606" marT="41303" marB="41303" anchor="ctr"/>
                </a:tc>
                <a:tc>
                  <a:txBody>
                    <a:bodyPr/>
                    <a:lstStyle/>
                    <a:p>
                      <a:pPr>
                        <a:buNone/>
                      </a:pPr>
                      <a:r>
                        <a:rPr lang="en-US" sz="1600"/>
                        <a:t>Airport details (location, city, coordinates)</a:t>
                      </a:r>
                    </a:p>
                  </a:txBody>
                  <a:tcPr marL="82606" marR="82606" marT="41303" marB="41303" anchor="ctr"/>
                </a:tc>
                <a:tc>
                  <a:txBody>
                    <a:bodyPr/>
                    <a:lstStyle/>
                    <a:p>
                      <a:pPr>
                        <a:buNone/>
                      </a:pPr>
                      <a:r>
                        <a:rPr lang="en-US" sz="1600"/>
                        <a:t>322 rows</a:t>
                      </a:r>
                    </a:p>
                  </a:txBody>
                  <a:tcPr marL="82606" marR="82606" marT="41303" marB="41303" anchor="ctr"/>
                </a:tc>
                <a:extLst>
                  <a:ext uri="{0D108BD9-81ED-4DB2-BD59-A6C34878D82A}">
                    <a16:rowId xmlns:a16="http://schemas.microsoft.com/office/drawing/2014/main" val="2865496744"/>
                  </a:ext>
                </a:extLst>
              </a:tr>
              <a:tr h="611288">
                <a:tc>
                  <a:txBody>
                    <a:bodyPr/>
                    <a:lstStyle/>
                    <a:p>
                      <a:pPr>
                        <a:buNone/>
                      </a:pPr>
                      <a:r>
                        <a:rPr lang="en-US" sz="1600" dirty="0"/>
                        <a:t>Cancellation Codes</a:t>
                      </a:r>
                    </a:p>
                  </a:txBody>
                  <a:tcPr marL="82606" marR="82606" marT="41303" marB="41303" anchor="ctr"/>
                </a:tc>
                <a:tc>
                  <a:txBody>
                    <a:bodyPr/>
                    <a:lstStyle/>
                    <a:p>
                      <a:pPr>
                        <a:buNone/>
                      </a:pPr>
                      <a:r>
                        <a:rPr lang="en-US" sz="1600"/>
                        <a:t>Reasons for flight cancellations</a:t>
                      </a:r>
                    </a:p>
                  </a:txBody>
                  <a:tcPr marL="82606" marR="82606" marT="41303" marB="41303" anchor="ctr"/>
                </a:tc>
                <a:tc>
                  <a:txBody>
                    <a:bodyPr/>
                    <a:lstStyle/>
                    <a:p>
                      <a:pPr>
                        <a:buNone/>
                      </a:pPr>
                      <a:r>
                        <a:rPr lang="en-US" sz="1600"/>
                        <a:t>4 rows</a:t>
                      </a:r>
                    </a:p>
                  </a:txBody>
                  <a:tcPr marL="82606" marR="82606" marT="41303" marB="41303" anchor="ctr"/>
                </a:tc>
                <a:extLst>
                  <a:ext uri="{0D108BD9-81ED-4DB2-BD59-A6C34878D82A}">
                    <a16:rowId xmlns:a16="http://schemas.microsoft.com/office/drawing/2014/main" val="3366573607"/>
                  </a:ext>
                </a:extLst>
              </a:tr>
              <a:tr h="859107">
                <a:tc>
                  <a:txBody>
                    <a:bodyPr/>
                    <a:lstStyle/>
                    <a:p>
                      <a:pPr>
                        <a:buNone/>
                      </a:pPr>
                      <a:r>
                        <a:rPr lang="en-US" sz="1600"/>
                        <a:t>Flights</a:t>
                      </a:r>
                    </a:p>
                  </a:txBody>
                  <a:tcPr marL="82606" marR="82606" marT="41303" marB="41303" anchor="ctr"/>
                </a:tc>
                <a:tc>
                  <a:txBody>
                    <a:bodyPr/>
                    <a:lstStyle/>
                    <a:p>
                      <a:pPr>
                        <a:buNone/>
                      </a:pPr>
                      <a:r>
                        <a:rPr lang="en-US" sz="1600" b="1" dirty="0"/>
                        <a:t>Main dataset </a:t>
                      </a:r>
                      <a:r>
                        <a:rPr lang="en-US" sz="1600" dirty="0"/>
                        <a:t>with flight details and delays</a:t>
                      </a:r>
                    </a:p>
                  </a:txBody>
                  <a:tcPr marL="82606" marR="82606" marT="41303" marB="41303" anchor="ctr"/>
                </a:tc>
                <a:tc>
                  <a:txBody>
                    <a:bodyPr/>
                    <a:lstStyle/>
                    <a:p>
                      <a:pPr>
                        <a:buNone/>
                      </a:pPr>
                      <a:r>
                        <a:rPr lang="en-US" sz="1600" dirty="0"/>
                        <a:t>5M+ rows</a:t>
                      </a:r>
                    </a:p>
                  </a:txBody>
                  <a:tcPr marL="82606" marR="82606" marT="41303" marB="41303" anchor="ctr"/>
                </a:tc>
                <a:extLst>
                  <a:ext uri="{0D108BD9-81ED-4DB2-BD59-A6C34878D82A}">
                    <a16:rowId xmlns:a16="http://schemas.microsoft.com/office/drawing/2014/main" val="2822441848"/>
                  </a:ext>
                </a:extLst>
              </a:tr>
            </a:tbl>
          </a:graphicData>
        </a:graphic>
      </p:graphicFrame>
    </p:spTree>
    <p:extLst>
      <p:ext uri="{BB962C8B-B14F-4D97-AF65-F5344CB8AC3E}">
        <p14:creationId xmlns:p14="http://schemas.microsoft.com/office/powerpoint/2010/main" val="4219738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4A9F9-7365-8E69-5D1E-0C5E21E7B318}"/>
              </a:ext>
            </a:extLst>
          </p:cNvPr>
          <p:cNvSpPr>
            <a:spLocks noGrp="1"/>
          </p:cNvSpPr>
          <p:nvPr>
            <p:ph type="title"/>
          </p:nvPr>
        </p:nvSpPr>
        <p:spPr>
          <a:xfrm>
            <a:off x="382366" y="137655"/>
            <a:ext cx="8596668" cy="486231"/>
          </a:xfrm>
        </p:spPr>
        <p:txBody>
          <a:bodyPr>
            <a:normAutofit fontScale="90000"/>
          </a:bodyPr>
          <a:lstStyle/>
          <a:p>
            <a:r>
              <a:rPr lang="en-GB" sz="3000" dirty="0"/>
              <a:t>DATA DICTIONARY/DESCRIPTIONS</a:t>
            </a:r>
            <a:endParaRPr lang="en-UG" sz="3000" dirty="0"/>
          </a:p>
        </p:txBody>
      </p:sp>
      <p:sp>
        <p:nvSpPr>
          <p:cNvPr id="3" name="Content Placeholder 2">
            <a:extLst>
              <a:ext uri="{FF2B5EF4-FFF2-40B4-BE49-F238E27FC236}">
                <a16:creationId xmlns:a16="http://schemas.microsoft.com/office/drawing/2014/main" id="{C0D79DCC-1829-73C5-F0E7-B17752AE24B0}"/>
              </a:ext>
            </a:extLst>
          </p:cNvPr>
          <p:cNvSpPr>
            <a:spLocks noGrp="1"/>
          </p:cNvSpPr>
          <p:nvPr>
            <p:ph idx="1"/>
          </p:nvPr>
        </p:nvSpPr>
        <p:spPr>
          <a:xfrm>
            <a:off x="382366" y="636598"/>
            <a:ext cx="8596668" cy="356469"/>
          </a:xfrm>
        </p:spPr>
        <p:txBody>
          <a:bodyPr>
            <a:normAutofit/>
          </a:bodyPr>
          <a:lstStyle/>
          <a:p>
            <a:pPr marL="0" indent="0">
              <a:buNone/>
            </a:pPr>
            <a:r>
              <a:rPr lang="en-GB" sz="1600" dirty="0"/>
              <a:t>Airlines Table:</a:t>
            </a:r>
            <a:endParaRPr lang="en-UG" sz="1600" dirty="0"/>
          </a:p>
        </p:txBody>
      </p:sp>
      <p:graphicFrame>
        <p:nvGraphicFramePr>
          <p:cNvPr id="4" name="Table 3">
            <a:extLst>
              <a:ext uri="{FF2B5EF4-FFF2-40B4-BE49-F238E27FC236}">
                <a16:creationId xmlns:a16="http://schemas.microsoft.com/office/drawing/2014/main" id="{035D2BD5-0C36-6AD2-6132-BF4ABCFEE237}"/>
              </a:ext>
            </a:extLst>
          </p:cNvPr>
          <p:cNvGraphicFramePr>
            <a:graphicFrameLocks noGrp="1"/>
          </p:cNvGraphicFramePr>
          <p:nvPr>
            <p:extLst>
              <p:ext uri="{D42A27DB-BD31-4B8C-83A1-F6EECF244321}">
                <p14:modId xmlns:p14="http://schemas.microsoft.com/office/powerpoint/2010/main" val="1775592680"/>
              </p:ext>
            </p:extLst>
          </p:nvPr>
        </p:nvGraphicFramePr>
        <p:xfrm>
          <a:off x="382365" y="935692"/>
          <a:ext cx="9872680" cy="1112520"/>
        </p:xfrm>
        <a:graphic>
          <a:graphicData uri="http://schemas.openxmlformats.org/drawingml/2006/table">
            <a:tbl>
              <a:tblPr firstRow="1" bandRow="1">
                <a:tableStyleId>{5C22544A-7EE6-4342-B048-85BDC9FD1C3A}</a:tableStyleId>
              </a:tblPr>
              <a:tblGrid>
                <a:gridCol w="2308396">
                  <a:extLst>
                    <a:ext uri="{9D8B030D-6E8A-4147-A177-3AD203B41FA5}">
                      <a16:colId xmlns:a16="http://schemas.microsoft.com/office/drawing/2014/main" val="1750922498"/>
                    </a:ext>
                  </a:extLst>
                </a:gridCol>
                <a:gridCol w="2308396">
                  <a:extLst>
                    <a:ext uri="{9D8B030D-6E8A-4147-A177-3AD203B41FA5}">
                      <a16:colId xmlns:a16="http://schemas.microsoft.com/office/drawing/2014/main" val="2106502306"/>
                    </a:ext>
                  </a:extLst>
                </a:gridCol>
                <a:gridCol w="2308396">
                  <a:extLst>
                    <a:ext uri="{9D8B030D-6E8A-4147-A177-3AD203B41FA5}">
                      <a16:colId xmlns:a16="http://schemas.microsoft.com/office/drawing/2014/main" val="3597528354"/>
                    </a:ext>
                  </a:extLst>
                </a:gridCol>
                <a:gridCol w="2947492">
                  <a:extLst>
                    <a:ext uri="{9D8B030D-6E8A-4147-A177-3AD203B41FA5}">
                      <a16:colId xmlns:a16="http://schemas.microsoft.com/office/drawing/2014/main" val="3835556097"/>
                    </a:ext>
                  </a:extLst>
                </a:gridCol>
              </a:tblGrid>
              <a:tr h="370840">
                <a:tc>
                  <a:txBody>
                    <a:bodyPr/>
                    <a:lstStyle/>
                    <a:p>
                      <a:r>
                        <a:rPr lang="en-GB" sz="1600" dirty="0"/>
                        <a:t>Feature Name</a:t>
                      </a:r>
                      <a:endParaRPr lang="en-UG" sz="1600" dirty="0"/>
                    </a:p>
                  </a:txBody>
                  <a:tcPr/>
                </a:tc>
                <a:tc>
                  <a:txBody>
                    <a:bodyPr/>
                    <a:lstStyle/>
                    <a:p>
                      <a:r>
                        <a:rPr lang="en-GB" sz="1600" dirty="0"/>
                        <a:t>Data Type</a:t>
                      </a:r>
                    </a:p>
                  </a:txBody>
                  <a:tcPr/>
                </a:tc>
                <a:tc>
                  <a:txBody>
                    <a:bodyPr/>
                    <a:lstStyle/>
                    <a:p>
                      <a:r>
                        <a:rPr lang="en-GB" sz="1600" dirty="0"/>
                        <a:t>Description</a:t>
                      </a:r>
                    </a:p>
                  </a:txBody>
                  <a:tcPr/>
                </a:tc>
                <a:tc>
                  <a:txBody>
                    <a:bodyPr/>
                    <a:lstStyle/>
                    <a:p>
                      <a:r>
                        <a:rPr lang="en-GB" sz="1600" dirty="0"/>
                        <a:t>Example value</a:t>
                      </a:r>
                    </a:p>
                  </a:txBody>
                  <a:tcPr/>
                </a:tc>
                <a:extLst>
                  <a:ext uri="{0D108BD9-81ED-4DB2-BD59-A6C34878D82A}">
                    <a16:rowId xmlns:a16="http://schemas.microsoft.com/office/drawing/2014/main" val="1710430272"/>
                  </a:ext>
                </a:extLst>
              </a:tr>
              <a:tr h="370840">
                <a:tc>
                  <a:txBody>
                    <a:bodyPr/>
                    <a:lstStyle/>
                    <a:p>
                      <a:r>
                        <a:rPr lang="en-UG" sz="1600" dirty="0"/>
                        <a:t>IATA_CODE</a:t>
                      </a:r>
                    </a:p>
                  </a:txBody>
                  <a:tcPr/>
                </a:tc>
                <a:tc>
                  <a:txBody>
                    <a:bodyPr/>
                    <a:lstStyle/>
                    <a:p>
                      <a:r>
                        <a:rPr lang="en-US" sz="1600" dirty="0"/>
                        <a:t>String (categorical)</a:t>
                      </a:r>
                      <a:endParaRPr lang="en-UG" sz="1600" dirty="0"/>
                    </a:p>
                  </a:txBody>
                  <a:tcPr/>
                </a:tc>
                <a:tc>
                  <a:txBody>
                    <a:bodyPr/>
                    <a:lstStyle/>
                    <a:p>
                      <a:r>
                        <a:rPr lang="en-US" sz="1600" dirty="0"/>
                        <a:t>Airline code</a:t>
                      </a:r>
                      <a:endParaRPr lang="en-UG" sz="1600" dirty="0"/>
                    </a:p>
                  </a:txBody>
                  <a:tcPr/>
                </a:tc>
                <a:tc>
                  <a:txBody>
                    <a:bodyPr/>
                    <a:lstStyle/>
                    <a:p>
                      <a:r>
                        <a:rPr lang="en-GB" sz="1600" dirty="0"/>
                        <a:t>AA</a:t>
                      </a:r>
                    </a:p>
                  </a:txBody>
                  <a:tcPr/>
                </a:tc>
                <a:extLst>
                  <a:ext uri="{0D108BD9-81ED-4DB2-BD59-A6C34878D82A}">
                    <a16:rowId xmlns:a16="http://schemas.microsoft.com/office/drawing/2014/main" val="2841868683"/>
                  </a:ext>
                </a:extLst>
              </a:tr>
              <a:tr h="370840">
                <a:tc>
                  <a:txBody>
                    <a:bodyPr/>
                    <a:lstStyle/>
                    <a:p>
                      <a:r>
                        <a:rPr lang="en-US" sz="1600" dirty="0"/>
                        <a:t>AIRLINE</a:t>
                      </a:r>
                      <a:endParaRPr lang="en-UG" sz="1600" dirty="0"/>
                    </a:p>
                  </a:txBody>
                  <a:tcPr/>
                </a:tc>
                <a:tc>
                  <a:txBody>
                    <a:bodyPr/>
                    <a:lstStyle/>
                    <a:p>
                      <a:r>
                        <a:rPr lang="en-GB" sz="1600" dirty="0"/>
                        <a:t>String</a:t>
                      </a:r>
                      <a:endParaRPr lang="en-UG" sz="1600" dirty="0"/>
                    </a:p>
                  </a:txBody>
                  <a:tcPr/>
                </a:tc>
                <a:tc>
                  <a:txBody>
                    <a:bodyPr/>
                    <a:lstStyle/>
                    <a:p>
                      <a:r>
                        <a:rPr lang="en-GB" sz="1600" dirty="0"/>
                        <a:t>Airline name</a:t>
                      </a:r>
                      <a:endParaRPr lang="en-UG" sz="1600" dirty="0"/>
                    </a:p>
                  </a:txBody>
                  <a:tcPr/>
                </a:tc>
                <a:tc>
                  <a:txBody>
                    <a:bodyPr/>
                    <a:lstStyle/>
                    <a:p>
                      <a:r>
                        <a:rPr lang="en-US" sz="1600" dirty="0"/>
                        <a:t>American Airlines</a:t>
                      </a:r>
                      <a:endParaRPr lang="en-GB" sz="1600" dirty="0"/>
                    </a:p>
                  </a:txBody>
                  <a:tcPr/>
                </a:tc>
                <a:extLst>
                  <a:ext uri="{0D108BD9-81ED-4DB2-BD59-A6C34878D82A}">
                    <a16:rowId xmlns:a16="http://schemas.microsoft.com/office/drawing/2014/main" val="1698313813"/>
                  </a:ext>
                </a:extLst>
              </a:tr>
            </a:tbl>
          </a:graphicData>
        </a:graphic>
      </p:graphicFrame>
      <p:sp>
        <p:nvSpPr>
          <p:cNvPr id="5" name="Content Placeholder 2">
            <a:extLst>
              <a:ext uri="{FF2B5EF4-FFF2-40B4-BE49-F238E27FC236}">
                <a16:creationId xmlns:a16="http://schemas.microsoft.com/office/drawing/2014/main" id="{B8AAE7C9-B5D1-0F3F-67B1-B05038DE8AAF}"/>
              </a:ext>
            </a:extLst>
          </p:cNvPr>
          <p:cNvSpPr txBox="1">
            <a:spLocks/>
          </p:cNvSpPr>
          <p:nvPr/>
        </p:nvSpPr>
        <p:spPr>
          <a:xfrm>
            <a:off x="382366" y="3435441"/>
            <a:ext cx="8596668" cy="35646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GB" sz="1600" dirty="0"/>
              <a:t>Airports Table:</a:t>
            </a:r>
            <a:endParaRPr lang="en-UG" sz="1600" dirty="0"/>
          </a:p>
        </p:txBody>
      </p:sp>
      <p:graphicFrame>
        <p:nvGraphicFramePr>
          <p:cNvPr id="7" name="Table 6">
            <a:extLst>
              <a:ext uri="{FF2B5EF4-FFF2-40B4-BE49-F238E27FC236}">
                <a16:creationId xmlns:a16="http://schemas.microsoft.com/office/drawing/2014/main" id="{BD4B73A4-506F-FC9F-AE18-78F7CC03C31C}"/>
              </a:ext>
            </a:extLst>
          </p:cNvPr>
          <p:cNvGraphicFramePr>
            <a:graphicFrameLocks noGrp="1"/>
          </p:cNvGraphicFramePr>
          <p:nvPr>
            <p:extLst>
              <p:ext uri="{D42A27DB-BD31-4B8C-83A1-F6EECF244321}">
                <p14:modId xmlns:p14="http://schemas.microsoft.com/office/powerpoint/2010/main" val="3375452007"/>
              </p:ext>
            </p:extLst>
          </p:nvPr>
        </p:nvGraphicFramePr>
        <p:xfrm>
          <a:off x="382365" y="3822290"/>
          <a:ext cx="9892345" cy="2966720"/>
        </p:xfrm>
        <a:graphic>
          <a:graphicData uri="http://schemas.openxmlformats.org/drawingml/2006/table">
            <a:tbl>
              <a:tblPr firstRow="1" bandRow="1">
                <a:tableStyleId>{5C22544A-7EE6-4342-B048-85BDC9FD1C3A}</a:tableStyleId>
              </a:tblPr>
              <a:tblGrid>
                <a:gridCol w="2308396">
                  <a:extLst>
                    <a:ext uri="{9D8B030D-6E8A-4147-A177-3AD203B41FA5}">
                      <a16:colId xmlns:a16="http://schemas.microsoft.com/office/drawing/2014/main" val="1750922498"/>
                    </a:ext>
                  </a:extLst>
                </a:gridCol>
                <a:gridCol w="2308396">
                  <a:extLst>
                    <a:ext uri="{9D8B030D-6E8A-4147-A177-3AD203B41FA5}">
                      <a16:colId xmlns:a16="http://schemas.microsoft.com/office/drawing/2014/main" val="2106502306"/>
                    </a:ext>
                  </a:extLst>
                </a:gridCol>
                <a:gridCol w="2512688">
                  <a:extLst>
                    <a:ext uri="{9D8B030D-6E8A-4147-A177-3AD203B41FA5}">
                      <a16:colId xmlns:a16="http://schemas.microsoft.com/office/drawing/2014/main" val="3597528354"/>
                    </a:ext>
                  </a:extLst>
                </a:gridCol>
                <a:gridCol w="2762865">
                  <a:extLst>
                    <a:ext uri="{9D8B030D-6E8A-4147-A177-3AD203B41FA5}">
                      <a16:colId xmlns:a16="http://schemas.microsoft.com/office/drawing/2014/main" val="3835556097"/>
                    </a:ext>
                  </a:extLst>
                </a:gridCol>
              </a:tblGrid>
              <a:tr h="370840">
                <a:tc>
                  <a:txBody>
                    <a:bodyPr/>
                    <a:lstStyle/>
                    <a:p>
                      <a:r>
                        <a:rPr lang="en-GB" sz="1600" dirty="0"/>
                        <a:t>Feature Name</a:t>
                      </a:r>
                      <a:endParaRPr lang="en-UG" sz="1600" dirty="0"/>
                    </a:p>
                  </a:txBody>
                  <a:tcPr/>
                </a:tc>
                <a:tc>
                  <a:txBody>
                    <a:bodyPr/>
                    <a:lstStyle/>
                    <a:p>
                      <a:r>
                        <a:rPr lang="en-GB" sz="1600" dirty="0"/>
                        <a:t>Data Type</a:t>
                      </a:r>
                    </a:p>
                  </a:txBody>
                  <a:tcPr/>
                </a:tc>
                <a:tc>
                  <a:txBody>
                    <a:bodyPr/>
                    <a:lstStyle/>
                    <a:p>
                      <a:r>
                        <a:rPr lang="en-GB" sz="1600" dirty="0"/>
                        <a:t>Description</a:t>
                      </a:r>
                    </a:p>
                  </a:txBody>
                  <a:tcPr/>
                </a:tc>
                <a:tc>
                  <a:txBody>
                    <a:bodyPr/>
                    <a:lstStyle/>
                    <a:p>
                      <a:r>
                        <a:rPr lang="en-GB" sz="1600" dirty="0"/>
                        <a:t>Example value</a:t>
                      </a:r>
                    </a:p>
                  </a:txBody>
                  <a:tcPr/>
                </a:tc>
                <a:extLst>
                  <a:ext uri="{0D108BD9-81ED-4DB2-BD59-A6C34878D82A}">
                    <a16:rowId xmlns:a16="http://schemas.microsoft.com/office/drawing/2014/main" val="1710430272"/>
                  </a:ext>
                </a:extLst>
              </a:tr>
              <a:tr h="370840">
                <a:tc>
                  <a:txBody>
                    <a:bodyPr/>
                    <a:lstStyle/>
                    <a:p>
                      <a:r>
                        <a:rPr lang="en-UG" sz="1600" dirty="0"/>
                        <a:t>IATA_CODE</a:t>
                      </a:r>
                    </a:p>
                  </a:txBody>
                  <a:tcPr/>
                </a:tc>
                <a:tc>
                  <a:txBody>
                    <a:bodyPr/>
                    <a:lstStyle/>
                    <a:p>
                      <a:r>
                        <a:rPr lang="en-US" sz="1600" dirty="0"/>
                        <a:t>String</a:t>
                      </a:r>
                      <a:endParaRPr lang="en-UG" sz="1600" dirty="0"/>
                    </a:p>
                  </a:txBody>
                  <a:tcPr/>
                </a:tc>
                <a:tc>
                  <a:txBody>
                    <a:bodyPr/>
                    <a:lstStyle/>
                    <a:p>
                      <a:r>
                        <a:rPr lang="en-US" sz="1600" dirty="0"/>
                        <a:t>Airport code</a:t>
                      </a:r>
                      <a:endParaRPr lang="en-UG" sz="1600" dirty="0"/>
                    </a:p>
                  </a:txBody>
                  <a:tcPr/>
                </a:tc>
                <a:tc>
                  <a:txBody>
                    <a:bodyPr/>
                    <a:lstStyle/>
                    <a:p>
                      <a:r>
                        <a:rPr lang="en-GB" sz="1600" dirty="0"/>
                        <a:t>JFK</a:t>
                      </a:r>
                    </a:p>
                  </a:txBody>
                  <a:tcPr/>
                </a:tc>
                <a:extLst>
                  <a:ext uri="{0D108BD9-81ED-4DB2-BD59-A6C34878D82A}">
                    <a16:rowId xmlns:a16="http://schemas.microsoft.com/office/drawing/2014/main" val="2841868683"/>
                  </a:ext>
                </a:extLst>
              </a:tr>
              <a:tr h="370840">
                <a:tc>
                  <a:txBody>
                    <a:bodyPr/>
                    <a:lstStyle/>
                    <a:p>
                      <a:r>
                        <a:rPr lang="en-US" sz="1600" dirty="0"/>
                        <a:t>AIRPORT</a:t>
                      </a:r>
                      <a:endParaRPr lang="en-UG" sz="1600" dirty="0"/>
                    </a:p>
                  </a:txBody>
                  <a:tcPr/>
                </a:tc>
                <a:tc>
                  <a:txBody>
                    <a:bodyPr/>
                    <a:lstStyle/>
                    <a:p>
                      <a:r>
                        <a:rPr lang="en-GB" sz="1600" dirty="0"/>
                        <a:t>String</a:t>
                      </a:r>
                      <a:endParaRPr lang="en-UG" sz="1600" dirty="0"/>
                    </a:p>
                  </a:txBody>
                  <a:tcPr/>
                </a:tc>
                <a:tc>
                  <a:txBody>
                    <a:bodyPr/>
                    <a:lstStyle/>
                    <a:p>
                      <a:r>
                        <a:rPr lang="en-GB" sz="1600" dirty="0"/>
                        <a:t>Airport name</a:t>
                      </a:r>
                      <a:endParaRPr lang="en-UG" sz="1600" dirty="0"/>
                    </a:p>
                  </a:txBody>
                  <a:tcPr/>
                </a:tc>
                <a:tc>
                  <a:txBody>
                    <a:bodyPr/>
                    <a:lstStyle/>
                    <a:p>
                      <a:r>
                        <a:rPr lang="en-US" sz="1600" dirty="0"/>
                        <a:t>JFK International Airport</a:t>
                      </a:r>
                    </a:p>
                  </a:txBody>
                  <a:tcPr/>
                </a:tc>
                <a:extLst>
                  <a:ext uri="{0D108BD9-81ED-4DB2-BD59-A6C34878D82A}">
                    <a16:rowId xmlns:a16="http://schemas.microsoft.com/office/drawing/2014/main" val="1698313813"/>
                  </a:ext>
                </a:extLst>
              </a:tr>
              <a:tr h="370840">
                <a:tc>
                  <a:txBody>
                    <a:bodyPr/>
                    <a:lstStyle/>
                    <a:p>
                      <a:pPr>
                        <a:buNone/>
                      </a:pPr>
                      <a:r>
                        <a:rPr lang="en-US" sz="1600" dirty="0"/>
                        <a:t>CITY</a:t>
                      </a:r>
                    </a:p>
                  </a:txBody>
                  <a:tcPr anchor="ctr"/>
                </a:tc>
                <a:tc>
                  <a:txBody>
                    <a:bodyPr/>
                    <a:lstStyle/>
                    <a:p>
                      <a:r>
                        <a:rPr lang="en-US" sz="1600" dirty="0"/>
                        <a:t>String</a:t>
                      </a:r>
                      <a:endParaRPr lang="en-UG" sz="1600" dirty="0"/>
                    </a:p>
                  </a:txBody>
                  <a:tcPr/>
                </a:tc>
                <a:tc>
                  <a:txBody>
                    <a:bodyPr/>
                    <a:lstStyle/>
                    <a:p>
                      <a:r>
                        <a:rPr lang="en-US" sz="1600" dirty="0"/>
                        <a:t>City location</a:t>
                      </a:r>
                      <a:endParaRPr lang="en-UG" sz="1600" dirty="0"/>
                    </a:p>
                  </a:txBody>
                  <a:tcPr/>
                </a:tc>
                <a:tc>
                  <a:txBody>
                    <a:bodyPr/>
                    <a:lstStyle/>
                    <a:p>
                      <a:r>
                        <a:rPr lang="en-US" sz="1600" dirty="0"/>
                        <a:t>New York</a:t>
                      </a:r>
                    </a:p>
                  </a:txBody>
                  <a:tcPr/>
                </a:tc>
                <a:extLst>
                  <a:ext uri="{0D108BD9-81ED-4DB2-BD59-A6C34878D82A}">
                    <a16:rowId xmlns:a16="http://schemas.microsoft.com/office/drawing/2014/main" val="1538883021"/>
                  </a:ext>
                </a:extLst>
              </a:tr>
              <a:tr h="370840">
                <a:tc>
                  <a:txBody>
                    <a:bodyPr/>
                    <a:lstStyle/>
                    <a:p>
                      <a:pPr>
                        <a:buNone/>
                      </a:pPr>
                      <a:r>
                        <a:rPr lang="en-US" sz="1600" dirty="0"/>
                        <a:t>STATE</a:t>
                      </a:r>
                    </a:p>
                  </a:txBody>
                  <a:tcPr anchor="ctr"/>
                </a:tc>
                <a:tc>
                  <a:txBody>
                    <a:bodyPr/>
                    <a:lstStyle/>
                    <a:p>
                      <a:r>
                        <a:rPr lang="en-GB" sz="1600" dirty="0"/>
                        <a:t>String</a:t>
                      </a:r>
                      <a:endParaRPr lang="en-UG" sz="1600" dirty="0"/>
                    </a:p>
                  </a:txBody>
                  <a:tcPr/>
                </a:tc>
                <a:tc>
                  <a:txBody>
                    <a:bodyPr/>
                    <a:lstStyle/>
                    <a:p>
                      <a:r>
                        <a:rPr lang="en-US" sz="1600" dirty="0"/>
                        <a:t>State name</a:t>
                      </a:r>
                      <a:endParaRPr lang="en-UG" sz="1600" dirty="0"/>
                    </a:p>
                  </a:txBody>
                  <a:tcPr/>
                </a:tc>
                <a:tc>
                  <a:txBody>
                    <a:bodyPr/>
                    <a:lstStyle/>
                    <a:p>
                      <a:r>
                        <a:rPr lang="en-US" sz="1600" dirty="0"/>
                        <a:t>TX</a:t>
                      </a:r>
                    </a:p>
                  </a:txBody>
                  <a:tcPr/>
                </a:tc>
                <a:extLst>
                  <a:ext uri="{0D108BD9-81ED-4DB2-BD59-A6C34878D82A}">
                    <a16:rowId xmlns:a16="http://schemas.microsoft.com/office/drawing/2014/main" val="651844404"/>
                  </a:ext>
                </a:extLst>
              </a:tr>
              <a:tr h="370840">
                <a:tc>
                  <a:txBody>
                    <a:bodyPr/>
                    <a:lstStyle/>
                    <a:p>
                      <a:pPr>
                        <a:buNone/>
                      </a:pPr>
                      <a:r>
                        <a:rPr lang="en-US" sz="1600" dirty="0"/>
                        <a:t>COUNTRY</a:t>
                      </a:r>
                    </a:p>
                  </a:txBody>
                  <a:tcPr anchor="ctr"/>
                </a:tc>
                <a:tc>
                  <a:txBody>
                    <a:bodyPr/>
                    <a:lstStyle/>
                    <a:p>
                      <a:r>
                        <a:rPr lang="en-GB" sz="1600" dirty="0"/>
                        <a:t>String</a:t>
                      </a:r>
                      <a:endParaRPr lang="en-UG" sz="1600" dirty="0"/>
                    </a:p>
                  </a:txBody>
                  <a:tcPr/>
                </a:tc>
                <a:tc>
                  <a:txBody>
                    <a:bodyPr/>
                    <a:lstStyle/>
                    <a:p>
                      <a:r>
                        <a:rPr lang="en-GB" sz="1600" dirty="0"/>
                        <a:t>Country name</a:t>
                      </a:r>
                      <a:endParaRPr lang="en-UG" sz="1600" dirty="0"/>
                    </a:p>
                  </a:txBody>
                  <a:tcPr/>
                </a:tc>
                <a:tc>
                  <a:txBody>
                    <a:bodyPr/>
                    <a:lstStyle/>
                    <a:p>
                      <a:r>
                        <a:rPr lang="en-US" sz="1600" dirty="0"/>
                        <a:t>USA</a:t>
                      </a:r>
                    </a:p>
                  </a:txBody>
                  <a:tcPr/>
                </a:tc>
                <a:extLst>
                  <a:ext uri="{0D108BD9-81ED-4DB2-BD59-A6C34878D82A}">
                    <a16:rowId xmlns:a16="http://schemas.microsoft.com/office/drawing/2014/main" val="3016437314"/>
                  </a:ext>
                </a:extLst>
              </a:tr>
              <a:tr h="370840">
                <a:tc>
                  <a:txBody>
                    <a:bodyPr/>
                    <a:lstStyle/>
                    <a:p>
                      <a:pPr>
                        <a:buNone/>
                      </a:pPr>
                      <a:r>
                        <a:rPr lang="en-US" sz="1600" dirty="0"/>
                        <a:t>LATITUDE</a:t>
                      </a:r>
                    </a:p>
                  </a:txBody>
                  <a:tcPr anchor="ctr"/>
                </a:tc>
                <a:tc>
                  <a:txBody>
                    <a:bodyPr/>
                    <a:lstStyle/>
                    <a:p>
                      <a:r>
                        <a:rPr lang="en-GB" sz="1600" dirty="0"/>
                        <a:t>Float</a:t>
                      </a:r>
                      <a:endParaRPr lang="en-UG" sz="1600" dirty="0"/>
                    </a:p>
                  </a:txBody>
                  <a:tcPr/>
                </a:tc>
                <a:tc>
                  <a:txBody>
                    <a:bodyPr/>
                    <a:lstStyle/>
                    <a:p>
                      <a:r>
                        <a:rPr lang="en-US" sz="1600" dirty="0"/>
                        <a:t>Geographic latitude</a:t>
                      </a:r>
                      <a:endParaRPr lang="en-UG" sz="1600" dirty="0"/>
                    </a:p>
                  </a:txBody>
                  <a:tcPr/>
                </a:tc>
                <a:tc>
                  <a:txBody>
                    <a:bodyPr/>
                    <a:lstStyle/>
                    <a:p>
                      <a:r>
                        <a:rPr lang="en-US" sz="1600" dirty="0"/>
                        <a:t>40.65236</a:t>
                      </a:r>
                    </a:p>
                  </a:txBody>
                  <a:tcPr/>
                </a:tc>
                <a:extLst>
                  <a:ext uri="{0D108BD9-81ED-4DB2-BD59-A6C34878D82A}">
                    <a16:rowId xmlns:a16="http://schemas.microsoft.com/office/drawing/2014/main" val="767610117"/>
                  </a:ext>
                </a:extLst>
              </a:tr>
              <a:tr h="370840">
                <a:tc>
                  <a:txBody>
                    <a:bodyPr/>
                    <a:lstStyle/>
                    <a:p>
                      <a:pPr>
                        <a:buNone/>
                      </a:pPr>
                      <a:r>
                        <a:rPr lang="en-US" sz="1600" dirty="0"/>
                        <a:t>LONGITUDE</a:t>
                      </a:r>
                    </a:p>
                  </a:txBody>
                  <a:tcPr anchor="ctr"/>
                </a:tc>
                <a:tc>
                  <a:txBody>
                    <a:bodyPr/>
                    <a:lstStyle/>
                    <a:p>
                      <a:r>
                        <a:rPr lang="en-GB" sz="1600" dirty="0"/>
                        <a:t>Float</a:t>
                      </a:r>
                      <a:endParaRPr lang="en-UG" sz="1600" dirty="0"/>
                    </a:p>
                  </a:txBody>
                  <a:tcPr/>
                </a:tc>
                <a:tc>
                  <a:txBody>
                    <a:bodyPr/>
                    <a:lstStyle/>
                    <a:p>
                      <a:r>
                        <a:rPr lang="en-US" sz="1600" dirty="0"/>
                        <a:t>Geographic longitude</a:t>
                      </a:r>
                      <a:endParaRPr lang="en-UG" sz="1600" dirty="0"/>
                    </a:p>
                  </a:txBody>
                  <a:tcPr/>
                </a:tc>
                <a:tc>
                  <a:txBody>
                    <a:bodyPr/>
                    <a:lstStyle/>
                    <a:p>
                      <a:r>
                        <a:rPr lang="en-US" sz="1600" dirty="0"/>
                        <a:t>-75.4404</a:t>
                      </a:r>
                    </a:p>
                  </a:txBody>
                  <a:tcPr/>
                </a:tc>
                <a:extLst>
                  <a:ext uri="{0D108BD9-81ED-4DB2-BD59-A6C34878D82A}">
                    <a16:rowId xmlns:a16="http://schemas.microsoft.com/office/drawing/2014/main" val="343721737"/>
                  </a:ext>
                </a:extLst>
              </a:tr>
            </a:tbl>
          </a:graphicData>
        </a:graphic>
      </p:graphicFrame>
      <p:sp>
        <p:nvSpPr>
          <p:cNvPr id="9" name="Content Placeholder 2">
            <a:extLst>
              <a:ext uri="{FF2B5EF4-FFF2-40B4-BE49-F238E27FC236}">
                <a16:creationId xmlns:a16="http://schemas.microsoft.com/office/drawing/2014/main" id="{322B0457-4DB3-D826-E990-9BC0848673AC}"/>
              </a:ext>
            </a:extLst>
          </p:cNvPr>
          <p:cNvSpPr txBox="1">
            <a:spLocks/>
          </p:cNvSpPr>
          <p:nvPr/>
        </p:nvSpPr>
        <p:spPr>
          <a:xfrm>
            <a:off x="382366" y="2031429"/>
            <a:ext cx="8596668" cy="35646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GB" sz="1600" dirty="0"/>
              <a:t>Cancellation Codes Table:</a:t>
            </a:r>
            <a:endParaRPr lang="en-UG" sz="1600" dirty="0"/>
          </a:p>
        </p:txBody>
      </p:sp>
      <p:graphicFrame>
        <p:nvGraphicFramePr>
          <p:cNvPr id="10" name="Table 9">
            <a:extLst>
              <a:ext uri="{FF2B5EF4-FFF2-40B4-BE49-F238E27FC236}">
                <a16:creationId xmlns:a16="http://schemas.microsoft.com/office/drawing/2014/main" id="{FFCE85EB-305A-4AD3-F121-C5A254DB4EF5}"/>
              </a:ext>
            </a:extLst>
          </p:cNvPr>
          <p:cNvGraphicFramePr>
            <a:graphicFrameLocks noGrp="1"/>
          </p:cNvGraphicFramePr>
          <p:nvPr>
            <p:extLst>
              <p:ext uri="{D42A27DB-BD31-4B8C-83A1-F6EECF244321}">
                <p14:modId xmlns:p14="http://schemas.microsoft.com/office/powerpoint/2010/main" val="4287269675"/>
              </p:ext>
            </p:extLst>
          </p:nvPr>
        </p:nvGraphicFramePr>
        <p:xfrm>
          <a:off x="382365" y="2364760"/>
          <a:ext cx="9872680" cy="1112520"/>
        </p:xfrm>
        <a:graphic>
          <a:graphicData uri="http://schemas.openxmlformats.org/drawingml/2006/table">
            <a:tbl>
              <a:tblPr firstRow="1" bandRow="1">
                <a:tableStyleId>{5C22544A-7EE6-4342-B048-85BDC9FD1C3A}</a:tableStyleId>
              </a:tblPr>
              <a:tblGrid>
                <a:gridCol w="2960603">
                  <a:extLst>
                    <a:ext uri="{9D8B030D-6E8A-4147-A177-3AD203B41FA5}">
                      <a16:colId xmlns:a16="http://schemas.microsoft.com/office/drawing/2014/main" val="1750922498"/>
                    </a:ext>
                  </a:extLst>
                </a:gridCol>
                <a:gridCol w="1219200">
                  <a:extLst>
                    <a:ext uri="{9D8B030D-6E8A-4147-A177-3AD203B41FA5}">
                      <a16:colId xmlns:a16="http://schemas.microsoft.com/office/drawing/2014/main" val="2106502306"/>
                    </a:ext>
                  </a:extLst>
                </a:gridCol>
                <a:gridCol w="3313471">
                  <a:extLst>
                    <a:ext uri="{9D8B030D-6E8A-4147-A177-3AD203B41FA5}">
                      <a16:colId xmlns:a16="http://schemas.microsoft.com/office/drawing/2014/main" val="3597528354"/>
                    </a:ext>
                  </a:extLst>
                </a:gridCol>
                <a:gridCol w="2379406">
                  <a:extLst>
                    <a:ext uri="{9D8B030D-6E8A-4147-A177-3AD203B41FA5}">
                      <a16:colId xmlns:a16="http://schemas.microsoft.com/office/drawing/2014/main" val="3835556097"/>
                    </a:ext>
                  </a:extLst>
                </a:gridCol>
              </a:tblGrid>
              <a:tr h="370840">
                <a:tc>
                  <a:txBody>
                    <a:bodyPr/>
                    <a:lstStyle/>
                    <a:p>
                      <a:r>
                        <a:rPr lang="en-GB" sz="1600" dirty="0"/>
                        <a:t>Feature Name</a:t>
                      </a:r>
                      <a:endParaRPr lang="en-UG" sz="1600" dirty="0"/>
                    </a:p>
                  </a:txBody>
                  <a:tcPr/>
                </a:tc>
                <a:tc>
                  <a:txBody>
                    <a:bodyPr/>
                    <a:lstStyle/>
                    <a:p>
                      <a:r>
                        <a:rPr lang="en-GB" sz="1600" dirty="0"/>
                        <a:t>Data Type</a:t>
                      </a:r>
                    </a:p>
                  </a:txBody>
                  <a:tcPr/>
                </a:tc>
                <a:tc>
                  <a:txBody>
                    <a:bodyPr/>
                    <a:lstStyle/>
                    <a:p>
                      <a:r>
                        <a:rPr lang="en-GB" sz="1600" dirty="0"/>
                        <a:t>Description</a:t>
                      </a:r>
                    </a:p>
                  </a:txBody>
                  <a:tcPr/>
                </a:tc>
                <a:tc>
                  <a:txBody>
                    <a:bodyPr/>
                    <a:lstStyle/>
                    <a:p>
                      <a:r>
                        <a:rPr lang="en-GB" sz="1600" dirty="0"/>
                        <a:t>Example value</a:t>
                      </a:r>
                    </a:p>
                  </a:txBody>
                  <a:tcPr/>
                </a:tc>
                <a:extLst>
                  <a:ext uri="{0D108BD9-81ED-4DB2-BD59-A6C34878D82A}">
                    <a16:rowId xmlns:a16="http://schemas.microsoft.com/office/drawing/2014/main" val="1710430272"/>
                  </a:ext>
                </a:extLst>
              </a:tr>
              <a:tr h="370840">
                <a:tc>
                  <a:txBody>
                    <a:bodyPr/>
                    <a:lstStyle/>
                    <a:p>
                      <a:r>
                        <a:rPr lang="en-US" sz="1600" dirty="0"/>
                        <a:t>CANCELLATION_REASON</a:t>
                      </a:r>
                      <a:endParaRPr lang="en-UG" sz="1600" dirty="0"/>
                    </a:p>
                  </a:txBody>
                  <a:tcPr/>
                </a:tc>
                <a:tc>
                  <a:txBody>
                    <a:bodyPr/>
                    <a:lstStyle/>
                    <a:p>
                      <a:r>
                        <a:rPr lang="en-US" sz="1600" dirty="0"/>
                        <a:t>String</a:t>
                      </a:r>
                      <a:endParaRPr lang="en-UG" sz="1600" dirty="0"/>
                    </a:p>
                  </a:txBody>
                  <a:tcPr/>
                </a:tc>
                <a:tc>
                  <a:txBody>
                    <a:bodyPr/>
                    <a:lstStyle/>
                    <a:p>
                      <a:r>
                        <a:rPr lang="en-US" sz="1600" dirty="0"/>
                        <a:t>Code for flight cancellation</a:t>
                      </a:r>
                      <a:endParaRPr lang="en-UG" sz="1600" dirty="0"/>
                    </a:p>
                  </a:txBody>
                  <a:tcPr/>
                </a:tc>
                <a:tc>
                  <a:txBody>
                    <a:bodyPr/>
                    <a:lstStyle/>
                    <a:p>
                      <a:r>
                        <a:rPr lang="en-GB" sz="1600" dirty="0"/>
                        <a:t>A</a:t>
                      </a:r>
                    </a:p>
                  </a:txBody>
                  <a:tcPr/>
                </a:tc>
                <a:extLst>
                  <a:ext uri="{0D108BD9-81ED-4DB2-BD59-A6C34878D82A}">
                    <a16:rowId xmlns:a16="http://schemas.microsoft.com/office/drawing/2014/main" val="2841868683"/>
                  </a:ext>
                </a:extLst>
              </a:tr>
              <a:tr h="370840">
                <a:tc>
                  <a:txBody>
                    <a:bodyPr/>
                    <a:lstStyle/>
                    <a:p>
                      <a:r>
                        <a:rPr lang="en-US" sz="1600" dirty="0"/>
                        <a:t>CANCELLATION_DESCRIPTION</a:t>
                      </a:r>
                      <a:endParaRPr lang="en-UG" sz="1600" dirty="0"/>
                    </a:p>
                  </a:txBody>
                  <a:tcPr/>
                </a:tc>
                <a:tc>
                  <a:txBody>
                    <a:bodyPr/>
                    <a:lstStyle/>
                    <a:p>
                      <a:r>
                        <a:rPr lang="en-GB" sz="1600" dirty="0"/>
                        <a:t>String</a:t>
                      </a:r>
                      <a:endParaRPr lang="en-UG" sz="1600" dirty="0"/>
                    </a:p>
                  </a:txBody>
                  <a:tcPr/>
                </a:tc>
                <a:tc>
                  <a:txBody>
                    <a:bodyPr/>
                    <a:lstStyle/>
                    <a:p>
                      <a:r>
                        <a:rPr lang="en-US" sz="1600" dirty="0"/>
                        <a:t>Meaning of code</a:t>
                      </a:r>
                      <a:endParaRPr lang="en-UG" sz="1600" dirty="0"/>
                    </a:p>
                  </a:txBody>
                  <a:tcPr/>
                </a:tc>
                <a:tc>
                  <a:txBody>
                    <a:bodyPr/>
                    <a:lstStyle/>
                    <a:p>
                      <a:r>
                        <a:rPr lang="en-US" sz="1600" dirty="0"/>
                        <a:t>Airline/Carrier</a:t>
                      </a:r>
                      <a:endParaRPr lang="en-GB" sz="1600" dirty="0"/>
                    </a:p>
                  </a:txBody>
                  <a:tcPr/>
                </a:tc>
                <a:extLst>
                  <a:ext uri="{0D108BD9-81ED-4DB2-BD59-A6C34878D82A}">
                    <a16:rowId xmlns:a16="http://schemas.microsoft.com/office/drawing/2014/main" val="1698313813"/>
                  </a:ext>
                </a:extLst>
              </a:tr>
            </a:tbl>
          </a:graphicData>
        </a:graphic>
      </p:graphicFrame>
    </p:spTree>
    <p:extLst>
      <p:ext uri="{BB962C8B-B14F-4D97-AF65-F5344CB8AC3E}">
        <p14:creationId xmlns:p14="http://schemas.microsoft.com/office/powerpoint/2010/main" val="2591665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A56D7-A782-EB61-3C9B-C7336E09F79F}"/>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2DC23330-7762-143F-EDC3-1151D29796E7}"/>
              </a:ext>
            </a:extLst>
          </p:cNvPr>
          <p:cNvSpPr txBox="1">
            <a:spLocks/>
          </p:cNvSpPr>
          <p:nvPr/>
        </p:nvSpPr>
        <p:spPr>
          <a:xfrm>
            <a:off x="382365" y="164564"/>
            <a:ext cx="8596668" cy="356469"/>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GB" sz="2000" dirty="0"/>
              <a:t>Flights Table:</a:t>
            </a:r>
            <a:endParaRPr lang="en-UG" sz="2000" dirty="0"/>
          </a:p>
        </p:txBody>
      </p:sp>
      <p:graphicFrame>
        <p:nvGraphicFramePr>
          <p:cNvPr id="7" name="Table 6">
            <a:extLst>
              <a:ext uri="{FF2B5EF4-FFF2-40B4-BE49-F238E27FC236}">
                <a16:creationId xmlns:a16="http://schemas.microsoft.com/office/drawing/2014/main" id="{AB8C4DA2-2D77-24AB-8941-9E6CD4CE105A}"/>
              </a:ext>
            </a:extLst>
          </p:cNvPr>
          <p:cNvGraphicFramePr>
            <a:graphicFrameLocks noGrp="1"/>
          </p:cNvGraphicFramePr>
          <p:nvPr>
            <p:extLst>
              <p:ext uri="{D42A27DB-BD31-4B8C-83A1-F6EECF244321}">
                <p14:modId xmlns:p14="http://schemas.microsoft.com/office/powerpoint/2010/main" val="3611557970"/>
              </p:ext>
            </p:extLst>
          </p:nvPr>
        </p:nvGraphicFramePr>
        <p:xfrm>
          <a:off x="382366" y="521033"/>
          <a:ext cx="11514665" cy="6497260"/>
        </p:xfrm>
        <a:graphic>
          <a:graphicData uri="http://schemas.openxmlformats.org/drawingml/2006/table">
            <a:tbl>
              <a:tblPr firstRow="1" bandRow="1">
                <a:tableStyleId>{5C22544A-7EE6-4342-B048-85BDC9FD1C3A}</a:tableStyleId>
              </a:tblPr>
              <a:tblGrid>
                <a:gridCol w="2824247">
                  <a:extLst>
                    <a:ext uri="{9D8B030D-6E8A-4147-A177-3AD203B41FA5}">
                      <a16:colId xmlns:a16="http://schemas.microsoft.com/office/drawing/2014/main" val="1750922498"/>
                    </a:ext>
                  </a:extLst>
                </a:gridCol>
                <a:gridCol w="2561914">
                  <a:extLst>
                    <a:ext uri="{9D8B030D-6E8A-4147-A177-3AD203B41FA5}">
                      <a16:colId xmlns:a16="http://schemas.microsoft.com/office/drawing/2014/main" val="2106502306"/>
                    </a:ext>
                  </a:extLst>
                </a:gridCol>
                <a:gridCol w="3837850">
                  <a:extLst>
                    <a:ext uri="{9D8B030D-6E8A-4147-A177-3AD203B41FA5}">
                      <a16:colId xmlns:a16="http://schemas.microsoft.com/office/drawing/2014/main" val="3597528354"/>
                    </a:ext>
                  </a:extLst>
                </a:gridCol>
                <a:gridCol w="2290654">
                  <a:extLst>
                    <a:ext uri="{9D8B030D-6E8A-4147-A177-3AD203B41FA5}">
                      <a16:colId xmlns:a16="http://schemas.microsoft.com/office/drawing/2014/main" val="3835556097"/>
                    </a:ext>
                  </a:extLst>
                </a:gridCol>
              </a:tblGrid>
              <a:tr h="324863">
                <a:tc>
                  <a:txBody>
                    <a:bodyPr/>
                    <a:lstStyle/>
                    <a:p>
                      <a:r>
                        <a:rPr lang="en-GB" sz="1400" dirty="0"/>
                        <a:t>Feature Name</a:t>
                      </a:r>
                      <a:endParaRPr lang="en-UG" sz="1400" dirty="0"/>
                    </a:p>
                  </a:txBody>
                  <a:tcPr/>
                </a:tc>
                <a:tc>
                  <a:txBody>
                    <a:bodyPr/>
                    <a:lstStyle/>
                    <a:p>
                      <a:r>
                        <a:rPr lang="en-GB" sz="1400" dirty="0"/>
                        <a:t>Data Type</a:t>
                      </a:r>
                    </a:p>
                  </a:txBody>
                  <a:tcPr/>
                </a:tc>
                <a:tc>
                  <a:txBody>
                    <a:bodyPr/>
                    <a:lstStyle/>
                    <a:p>
                      <a:r>
                        <a:rPr lang="en-GB" sz="1400" dirty="0"/>
                        <a:t>Description</a:t>
                      </a:r>
                    </a:p>
                  </a:txBody>
                  <a:tcPr/>
                </a:tc>
                <a:tc>
                  <a:txBody>
                    <a:bodyPr/>
                    <a:lstStyle/>
                    <a:p>
                      <a:r>
                        <a:rPr lang="en-GB" sz="1400" dirty="0"/>
                        <a:t>Example value</a:t>
                      </a:r>
                    </a:p>
                  </a:txBody>
                  <a:tcPr/>
                </a:tc>
                <a:extLst>
                  <a:ext uri="{0D108BD9-81ED-4DB2-BD59-A6C34878D82A}">
                    <a16:rowId xmlns:a16="http://schemas.microsoft.com/office/drawing/2014/main" val="1710430272"/>
                  </a:ext>
                </a:extLst>
              </a:tr>
              <a:tr h="324863">
                <a:tc>
                  <a:txBody>
                    <a:bodyPr/>
                    <a:lstStyle/>
                    <a:p>
                      <a:r>
                        <a:rPr lang="en-GB" sz="1400" dirty="0"/>
                        <a:t>YEAR</a:t>
                      </a:r>
                      <a:endParaRPr lang="en-UG" sz="1400" dirty="0"/>
                    </a:p>
                  </a:txBody>
                  <a:tcPr/>
                </a:tc>
                <a:tc>
                  <a:txBody>
                    <a:bodyPr/>
                    <a:lstStyle/>
                    <a:p>
                      <a:r>
                        <a:rPr lang="en-US" sz="1400" dirty="0"/>
                        <a:t>Integer</a:t>
                      </a:r>
                      <a:endParaRPr lang="en-UG" sz="1400" dirty="0"/>
                    </a:p>
                  </a:txBody>
                  <a:tcPr/>
                </a:tc>
                <a:tc>
                  <a:txBody>
                    <a:bodyPr/>
                    <a:lstStyle/>
                    <a:p>
                      <a:r>
                        <a:rPr lang="en-US" sz="1400" dirty="0"/>
                        <a:t>Year of flight</a:t>
                      </a:r>
                      <a:endParaRPr lang="en-UG" sz="1400" dirty="0"/>
                    </a:p>
                  </a:txBody>
                  <a:tcPr/>
                </a:tc>
                <a:tc>
                  <a:txBody>
                    <a:bodyPr/>
                    <a:lstStyle/>
                    <a:p>
                      <a:r>
                        <a:rPr lang="en-GB" sz="1400" dirty="0"/>
                        <a:t>2015</a:t>
                      </a:r>
                    </a:p>
                  </a:txBody>
                  <a:tcPr/>
                </a:tc>
                <a:extLst>
                  <a:ext uri="{0D108BD9-81ED-4DB2-BD59-A6C34878D82A}">
                    <a16:rowId xmlns:a16="http://schemas.microsoft.com/office/drawing/2014/main" val="2841868683"/>
                  </a:ext>
                </a:extLst>
              </a:tr>
              <a:tr h="324863">
                <a:tc>
                  <a:txBody>
                    <a:bodyPr/>
                    <a:lstStyle/>
                    <a:p>
                      <a:r>
                        <a:rPr lang="en-US" sz="1400" dirty="0"/>
                        <a:t>MONTH</a:t>
                      </a:r>
                      <a:endParaRPr lang="en-UG" sz="1400" dirty="0"/>
                    </a:p>
                  </a:txBody>
                  <a:tcPr/>
                </a:tc>
                <a:tc>
                  <a:txBody>
                    <a:bodyPr/>
                    <a:lstStyle/>
                    <a:p>
                      <a:r>
                        <a:rPr lang="en-GB" sz="1400" dirty="0"/>
                        <a:t>Integer</a:t>
                      </a:r>
                      <a:endParaRPr lang="en-UG" sz="1400" dirty="0"/>
                    </a:p>
                  </a:txBody>
                  <a:tcPr/>
                </a:tc>
                <a:tc>
                  <a:txBody>
                    <a:bodyPr/>
                    <a:lstStyle/>
                    <a:p>
                      <a:r>
                        <a:rPr lang="en-US" sz="1400" dirty="0"/>
                        <a:t>Month of flight (1–12)</a:t>
                      </a:r>
                      <a:endParaRPr lang="en-UG" sz="1400" dirty="0"/>
                    </a:p>
                  </a:txBody>
                  <a:tcPr/>
                </a:tc>
                <a:tc>
                  <a:txBody>
                    <a:bodyPr/>
                    <a:lstStyle/>
                    <a:p>
                      <a:r>
                        <a:rPr lang="en-US" sz="1400" dirty="0"/>
                        <a:t>1</a:t>
                      </a:r>
                    </a:p>
                  </a:txBody>
                  <a:tcPr/>
                </a:tc>
                <a:extLst>
                  <a:ext uri="{0D108BD9-81ED-4DB2-BD59-A6C34878D82A}">
                    <a16:rowId xmlns:a16="http://schemas.microsoft.com/office/drawing/2014/main" val="1698313813"/>
                  </a:ext>
                </a:extLst>
              </a:tr>
              <a:tr h="324863">
                <a:tc>
                  <a:txBody>
                    <a:bodyPr/>
                    <a:lstStyle/>
                    <a:p>
                      <a:pPr>
                        <a:buNone/>
                      </a:pPr>
                      <a:r>
                        <a:rPr lang="en-US" sz="1400" dirty="0"/>
                        <a:t>DAY</a:t>
                      </a:r>
                    </a:p>
                  </a:txBody>
                  <a:tcPr anchor="ctr"/>
                </a:tc>
                <a:tc>
                  <a:txBody>
                    <a:bodyPr/>
                    <a:lstStyle/>
                    <a:p>
                      <a:r>
                        <a:rPr lang="en-US" sz="1400" dirty="0"/>
                        <a:t>Integer</a:t>
                      </a:r>
                      <a:endParaRPr lang="en-UG" sz="1400" dirty="0"/>
                    </a:p>
                  </a:txBody>
                  <a:tcPr/>
                </a:tc>
                <a:tc>
                  <a:txBody>
                    <a:bodyPr/>
                    <a:lstStyle/>
                    <a:p>
                      <a:r>
                        <a:rPr lang="en-US" sz="1400" dirty="0"/>
                        <a:t>Day of month</a:t>
                      </a:r>
                      <a:endParaRPr lang="en-UG" sz="1400" dirty="0"/>
                    </a:p>
                  </a:txBody>
                  <a:tcPr/>
                </a:tc>
                <a:tc>
                  <a:txBody>
                    <a:bodyPr/>
                    <a:lstStyle/>
                    <a:p>
                      <a:r>
                        <a:rPr lang="en-US" sz="1400" dirty="0"/>
                        <a:t>15</a:t>
                      </a:r>
                    </a:p>
                  </a:txBody>
                  <a:tcPr/>
                </a:tc>
                <a:extLst>
                  <a:ext uri="{0D108BD9-81ED-4DB2-BD59-A6C34878D82A}">
                    <a16:rowId xmlns:a16="http://schemas.microsoft.com/office/drawing/2014/main" val="1538883021"/>
                  </a:ext>
                </a:extLst>
              </a:tr>
              <a:tr h="324863">
                <a:tc>
                  <a:txBody>
                    <a:bodyPr/>
                    <a:lstStyle/>
                    <a:p>
                      <a:pPr>
                        <a:buNone/>
                      </a:pPr>
                      <a:r>
                        <a:rPr lang="en-US" sz="1400" dirty="0"/>
                        <a:t>DAY OF WEEK</a:t>
                      </a:r>
                    </a:p>
                  </a:txBody>
                  <a:tcPr anchor="ctr"/>
                </a:tc>
                <a:tc>
                  <a:txBody>
                    <a:bodyPr/>
                    <a:lstStyle/>
                    <a:p>
                      <a:r>
                        <a:rPr lang="en-GB" sz="1400" dirty="0"/>
                        <a:t>Integer</a:t>
                      </a:r>
                      <a:endParaRPr lang="en-UG" sz="1400" dirty="0"/>
                    </a:p>
                  </a:txBody>
                  <a:tcPr/>
                </a:tc>
                <a:tc>
                  <a:txBody>
                    <a:bodyPr/>
                    <a:lstStyle/>
                    <a:p>
                      <a:r>
                        <a:rPr lang="en-US" sz="1400" dirty="0"/>
                        <a:t>Day of week (1=Mon, 7=Sun)</a:t>
                      </a:r>
                      <a:endParaRPr lang="en-UG" sz="1400" dirty="0"/>
                    </a:p>
                  </a:txBody>
                  <a:tcPr/>
                </a:tc>
                <a:tc>
                  <a:txBody>
                    <a:bodyPr/>
                    <a:lstStyle/>
                    <a:p>
                      <a:r>
                        <a:rPr lang="en-US" sz="1400" dirty="0"/>
                        <a:t>4</a:t>
                      </a:r>
                    </a:p>
                  </a:txBody>
                  <a:tcPr/>
                </a:tc>
                <a:extLst>
                  <a:ext uri="{0D108BD9-81ED-4DB2-BD59-A6C34878D82A}">
                    <a16:rowId xmlns:a16="http://schemas.microsoft.com/office/drawing/2014/main" val="651844404"/>
                  </a:ext>
                </a:extLst>
              </a:tr>
              <a:tr h="324863">
                <a:tc>
                  <a:txBody>
                    <a:bodyPr/>
                    <a:lstStyle/>
                    <a:p>
                      <a:pPr>
                        <a:buNone/>
                      </a:pPr>
                      <a:r>
                        <a:rPr lang="en-US" sz="1400" dirty="0"/>
                        <a:t>AIRLINE</a:t>
                      </a:r>
                    </a:p>
                  </a:txBody>
                  <a:tcPr anchor="ctr"/>
                </a:tc>
                <a:tc>
                  <a:txBody>
                    <a:bodyPr/>
                    <a:lstStyle/>
                    <a:p>
                      <a:r>
                        <a:rPr lang="en-GB" sz="1400" dirty="0"/>
                        <a:t>Categorical string</a:t>
                      </a:r>
                      <a:endParaRPr lang="en-UG" sz="1400" dirty="0"/>
                    </a:p>
                  </a:txBody>
                  <a:tcPr/>
                </a:tc>
                <a:tc>
                  <a:txBody>
                    <a:bodyPr/>
                    <a:lstStyle/>
                    <a:p>
                      <a:r>
                        <a:rPr lang="en-US" sz="1400" dirty="0"/>
                        <a:t>Airline code (IATA)</a:t>
                      </a:r>
                      <a:endParaRPr lang="en-UG" sz="1400" dirty="0"/>
                    </a:p>
                  </a:txBody>
                  <a:tcPr/>
                </a:tc>
                <a:tc>
                  <a:txBody>
                    <a:bodyPr/>
                    <a:lstStyle/>
                    <a:p>
                      <a:r>
                        <a:rPr lang="en-US" sz="1400" dirty="0"/>
                        <a:t>AA</a:t>
                      </a:r>
                    </a:p>
                  </a:txBody>
                  <a:tcPr/>
                </a:tc>
                <a:extLst>
                  <a:ext uri="{0D108BD9-81ED-4DB2-BD59-A6C34878D82A}">
                    <a16:rowId xmlns:a16="http://schemas.microsoft.com/office/drawing/2014/main" val="3016437314"/>
                  </a:ext>
                </a:extLst>
              </a:tr>
              <a:tr h="324863">
                <a:tc>
                  <a:txBody>
                    <a:bodyPr/>
                    <a:lstStyle/>
                    <a:p>
                      <a:pPr>
                        <a:buNone/>
                      </a:pPr>
                      <a:r>
                        <a:rPr lang="en-US" sz="1400" dirty="0"/>
                        <a:t>FLIGHT NUMBER</a:t>
                      </a:r>
                    </a:p>
                  </a:txBody>
                  <a:tcPr anchor="ctr"/>
                </a:tc>
                <a:tc>
                  <a:txBody>
                    <a:bodyPr/>
                    <a:lstStyle/>
                    <a:p>
                      <a:r>
                        <a:rPr lang="en-GB" sz="1400" dirty="0"/>
                        <a:t>Integer</a:t>
                      </a:r>
                      <a:endParaRPr lang="en-UG" sz="1400" dirty="0"/>
                    </a:p>
                  </a:txBody>
                  <a:tcPr/>
                </a:tc>
                <a:tc>
                  <a:txBody>
                    <a:bodyPr/>
                    <a:lstStyle/>
                    <a:p>
                      <a:r>
                        <a:rPr lang="en-US" sz="1400" dirty="0"/>
                        <a:t>Flight identifier</a:t>
                      </a:r>
                      <a:endParaRPr lang="en-UG" sz="1400" dirty="0"/>
                    </a:p>
                  </a:txBody>
                  <a:tcPr/>
                </a:tc>
                <a:tc>
                  <a:txBody>
                    <a:bodyPr/>
                    <a:lstStyle/>
                    <a:p>
                      <a:r>
                        <a:rPr lang="en-US" sz="1400" dirty="0"/>
                        <a:t>98</a:t>
                      </a:r>
                    </a:p>
                  </a:txBody>
                  <a:tcPr/>
                </a:tc>
                <a:extLst>
                  <a:ext uri="{0D108BD9-81ED-4DB2-BD59-A6C34878D82A}">
                    <a16:rowId xmlns:a16="http://schemas.microsoft.com/office/drawing/2014/main" val="767610117"/>
                  </a:ext>
                </a:extLst>
              </a:tr>
              <a:tr h="324863">
                <a:tc>
                  <a:txBody>
                    <a:bodyPr/>
                    <a:lstStyle/>
                    <a:p>
                      <a:pPr>
                        <a:buNone/>
                      </a:pPr>
                      <a:r>
                        <a:rPr lang="en-US" sz="1400" dirty="0"/>
                        <a:t>TAIL NUMBER</a:t>
                      </a:r>
                    </a:p>
                  </a:txBody>
                  <a:tcPr anchor="ctr"/>
                </a:tc>
                <a:tc>
                  <a:txBody>
                    <a:bodyPr/>
                    <a:lstStyle/>
                    <a:p>
                      <a:r>
                        <a:rPr lang="en-GB" sz="1400" dirty="0"/>
                        <a:t>String</a:t>
                      </a:r>
                      <a:endParaRPr lang="en-UG" sz="1400" dirty="0"/>
                    </a:p>
                  </a:txBody>
                  <a:tcPr/>
                </a:tc>
                <a:tc>
                  <a:txBody>
                    <a:bodyPr/>
                    <a:lstStyle/>
                    <a:p>
                      <a:r>
                        <a:rPr lang="en-US" sz="1400" dirty="0"/>
                        <a:t>Aircraft identifier</a:t>
                      </a:r>
                      <a:endParaRPr lang="en-UG" sz="1400" dirty="0"/>
                    </a:p>
                  </a:txBody>
                  <a:tcPr/>
                </a:tc>
                <a:tc>
                  <a:txBody>
                    <a:bodyPr/>
                    <a:lstStyle/>
                    <a:p>
                      <a:r>
                        <a:rPr lang="en-US" sz="1400" b="0" i="0" kern="1200" dirty="0">
                          <a:solidFill>
                            <a:schemeClr val="dk1"/>
                          </a:solidFill>
                          <a:effectLst/>
                          <a:latin typeface="+mn-lt"/>
                          <a:ea typeface="+mn-ea"/>
                          <a:cs typeface="+mn-cs"/>
                        </a:rPr>
                        <a:t>N407AS</a:t>
                      </a:r>
                      <a:endParaRPr lang="en-US" sz="1400" dirty="0"/>
                    </a:p>
                  </a:txBody>
                  <a:tcPr/>
                </a:tc>
                <a:extLst>
                  <a:ext uri="{0D108BD9-81ED-4DB2-BD59-A6C34878D82A}">
                    <a16:rowId xmlns:a16="http://schemas.microsoft.com/office/drawing/2014/main" val="343721737"/>
                  </a:ext>
                </a:extLst>
              </a:tr>
              <a:tr h="324863">
                <a:tc>
                  <a:txBody>
                    <a:bodyPr/>
                    <a:lstStyle/>
                    <a:p>
                      <a:pPr>
                        <a:buNone/>
                      </a:pPr>
                      <a:r>
                        <a:rPr lang="en-US" sz="1400" dirty="0"/>
                        <a:t>ORIGIN AIRPORT</a:t>
                      </a:r>
                    </a:p>
                  </a:txBody>
                  <a:tcPr anchor="ctr"/>
                </a:tc>
                <a:tc>
                  <a:txBody>
                    <a:bodyPr/>
                    <a:lstStyle/>
                    <a:p>
                      <a:r>
                        <a:rPr lang="en-GB" sz="1400" dirty="0"/>
                        <a:t>Categorical string</a:t>
                      </a:r>
                      <a:endParaRPr lang="en-UG" sz="1400" dirty="0"/>
                    </a:p>
                  </a:txBody>
                  <a:tcPr/>
                </a:tc>
                <a:tc>
                  <a:txBody>
                    <a:bodyPr/>
                    <a:lstStyle/>
                    <a:p>
                      <a:r>
                        <a:rPr lang="en-US" sz="1400" dirty="0"/>
                        <a:t>Departure airport code</a:t>
                      </a:r>
                      <a:endParaRPr lang="en-UG" sz="1400" dirty="0"/>
                    </a:p>
                  </a:txBody>
                  <a:tcPr/>
                </a:tc>
                <a:tc>
                  <a:txBody>
                    <a:bodyPr/>
                    <a:lstStyle/>
                    <a:p>
                      <a:r>
                        <a:rPr lang="en-US" sz="1400" dirty="0"/>
                        <a:t>LAX</a:t>
                      </a:r>
                    </a:p>
                  </a:txBody>
                  <a:tcPr/>
                </a:tc>
                <a:extLst>
                  <a:ext uri="{0D108BD9-81ED-4DB2-BD59-A6C34878D82A}">
                    <a16:rowId xmlns:a16="http://schemas.microsoft.com/office/drawing/2014/main" val="2831294080"/>
                  </a:ext>
                </a:extLst>
              </a:tr>
              <a:tr h="324863">
                <a:tc>
                  <a:txBody>
                    <a:bodyPr/>
                    <a:lstStyle/>
                    <a:p>
                      <a:pPr>
                        <a:buNone/>
                      </a:pPr>
                      <a:r>
                        <a:rPr lang="en-US" sz="1400" dirty="0"/>
                        <a:t>DESTINATION AIRPORT</a:t>
                      </a:r>
                    </a:p>
                  </a:txBody>
                  <a:tcPr anchor="ctr"/>
                </a:tc>
                <a:tc>
                  <a:txBody>
                    <a:bodyPr/>
                    <a:lstStyle/>
                    <a:p>
                      <a:r>
                        <a:rPr lang="en-GB" sz="1400" dirty="0"/>
                        <a:t>Categorical string</a:t>
                      </a:r>
                      <a:endParaRPr lang="en-UG" sz="1400" dirty="0"/>
                    </a:p>
                  </a:txBody>
                  <a:tcPr/>
                </a:tc>
                <a:tc>
                  <a:txBody>
                    <a:bodyPr/>
                    <a:lstStyle/>
                    <a:p>
                      <a:r>
                        <a:rPr lang="en-US" sz="1400" dirty="0"/>
                        <a:t>Arrival airport code</a:t>
                      </a:r>
                      <a:endParaRPr lang="en-UG" sz="1400" dirty="0"/>
                    </a:p>
                  </a:txBody>
                  <a:tcPr/>
                </a:tc>
                <a:tc>
                  <a:txBody>
                    <a:bodyPr/>
                    <a:lstStyle/>
                    <a:p>
                      <a:r>
                        <a:rPr lang="en-US" sz="1400" dirty="0"/>
                        <a:t>JFK</a:t>
                      </a:r>
                    </a:p>
                  </a:txBody>
                  <a:tcPr/>
                </a:tc>
                <a:extLst>
                  <a:ext uri="{0D108BD9-81ED-4DB2-BD59-A6C34878D82A}">
                    <a16:rowId xmlns:a16="http://schemas.microsoft.com/office/drawing/2014/main" val="3141018571"/>
                  </a:ext>
                </a:extLst>
              </a:tr>
              <a:tr h="324863">
                <a:tc>
                  <a:txBody>
                    <a:bodyPr/>
                    <a:lstStyle/>
                    <a:p>
                      <a:pPr>
                        <a:buNone/>
                      </a:pPr>
                      <a:r>
                        <a:rPr lang="en-US" sz="1400" dirty="0"/>
                        <a:t>SCHEDULED_DEPARTURE</a:t>
                      </a:r>
                    </a:p>
                  </a:txBody>
                  <a:tcPr anchor="ctr"/>
                </a:tc>
                <a:tc>
                  <a:txBody>
                    <a:bodyPr/>
                    <a:lstStyle/>
                    <a:p>
                      <a:r>
                        <a:rPr lang="en-GB" sz="1400" dirty="0"/>
                        <a:t>Integer</a:t>
                      </a:r>
                      <a:endParaRPr lang="en-UG" sz="1400" dirty="0"/>
                    </a:p>
                  </a:txBody>
                  <a:tcPr/>
                </a:tc>
                <a:tc>
                  <a:txBody>
                    <a:bodyPr/>
                    <a:lstStyle/>
                    <a:p>
                      <a:r>
                        <a:rPr lang="en-US" sz="1400" dirty="0"/>
                        <a:t>Planned departure time(HHMM format)</a:t>
                      </a:r>
                      <a:endParaRPr lang="en-UG" sz="1400" dirty="0"/>
                    </a:p>
                  </a:txBody>
                  <a:tcPr/>
                </a:tc>
                <a:tc>
                  <a:txBody>
                    <a:bodyPr/>
                    <a:lstStyle/>
                    <a:p>
                      <a:r>
                        <a:rPr lang="en-US" sz="1400" dirty="0"/>
                        <a:t>530 (5:30 AM)</a:t>
                      </a:r>
                    </a:p>
                  </a:txBody>
                  <a:tcPr/>
                </a:tc>
                <a:extLst>
                  <a:ext uri="{0D108BD9-81ED-4DB2-BD59-A6C34878D82A}">
                    <a16:rowId xmlns:a16="http://schemas.microsoft.com/office/drawing/2014/main" val="3171354930"/>
                  </a:ext>
                </a:extLst>
              </a:tr>
              <a:tr h="324863">
                <a:tc>
                  <a:txBody>
                    <a:bodyPr/>
                    <a:lstStyle/>
                    <a:p>
                      <a:pPr>
                        <a:buNone/>
                      </a:pPr>
                      <a:r>
                        <a:rPr lang="en-US" sz="1400" dirty="0"/>
                        <a:t>DEPARTURE_TIME</a:t>
                      </a:r>
                    </a:p>
                  </a:txBody>
                  <a:tcPr anchor="ctr"/>
                </a:tc>
                <a:tc>
                  <a:txBody>
                    <a:bodyPr/>
                    <a:lstStyle/>
                    <a:p>
                      <a:r>
                        <a:rPr lang="en-GB" sz="1400" dirty="0"/>
                        <a:t>Float</a:t>
                      </a:r>
                      <a:endParaRPr lang="en-UG" sz="1400" dirty="0"/>
                    </a:p>
                  </a:txBody>
                  <a:tcPr/>
                </a:tc>
                <a:tc>
                  <a:txBody>
                    <a:bodyPr/>
                    <a:lstStyle/>
                    <a:p>
                      <a:r>
                        <a:rPr lang="en-US" sz="1400" dirty="0"/>
                        <a:t>Actual departure time</a:t>
                      </a:r>
                      <a:endParaRPr lang="en-UG" sz="1400" dirty="0"/>
                    </a:p>
                  </a:txBody>
                  <a:tcPr/>
                </a:tc>
                <a:tc>
                  <a:txBody>
                    <a:bodyPr/>
                    <a:lstStyle/>
                    <a:p>
                      <a:r>
                        <a:rPr lang="en-US" sz="1400" dirty="0"/>
                        <a:t>1020</a:t>
                      </a:r>
                    </a:p>
                  </a:txBody>
                  <a:tcPr/>
                </a:tc>
                <a:extLst>
                  <a:ext uri="{0D108BD9-81ED-4DB2-BD59-A6C34878D82A}">
                    <a16:rowId xmlns:a16="http://schemas.microsoft.com/office/drawing/2014/main" val="2743903189"/>
                  </a:ext>
                </a:extLst>
              </a:tr>
              <a:tr h="324863">
                <a:tc>
                  <a:txBody>
                    <a:bodyPr/>
                    <a:lstStyle/>
                    <a:p>
                      <a:pPr>
                        <a:buNone/>
                      </a:pPr>
                      <a:r>
                        <a:rPr lang="en-US" sz="1400" dirty="0"/>
                        <a:t>DEPARTURE_DELAY</a:t>
                      </a:r>
                    </a:p>
                  </a:txBody>
                  <a:tcPr anchor="ctr"/>
                </a:tc>
                <a:tc>
                  <a:txBody>
                    <a:bodyPr/>
                    <a:lstStyle/>
                    <a:p>
                      <a:r>
                        <a:rPr lang="en-GB" sz="1400" dirty="0"/>
                        <a:t>Float</a:t>
                      </a:r>
                      <a:endParaRPr lang="en-UG" sz="1400" dirty="0"/>
                    </a:p>
                  </a:txBody>
                  <a:tcPr/>
                </a:tc>
                <a:tc>
                  <a:txBody>
                    <a:bodyPr/>
                    <a:lstStyle/>
                    <a:p>
                      <a:r>
                        <a:rPr lang="en-US" sz="1400" dirty="0"/>
                        <a:t>Delay in departure (minutes)</a:t>
                      </a:r>
                      <a:endParaRPr lang="en-UG" sz="1400" dirty="0"/>
                    </a:p>
                  </a:txBody>
                  <a:tcPr/>
                </a:tc>
                <a:tc>
                  <a:txBody>
                    <a:bodyPr/>
                    <a:lstStyle/>
                    <a:p>
                      <a:r>
                        <a:rPr lang="en-US" sz="1400" dirty="0"/>
                        <a:t>-10.5</a:t>
                      </a:r>
                    </a:p>
                  </a:txBody>
                  <a:tcPr/>
                </a:tc>
                <a:extLst>
                  <a:ext uri="{0D108BD9-81ED-4DB2-BD59-A6C34878D82A}">
                    <a16:rowId xmlns:a16="http://schemas.microsoft.com/office/drawing/2014/main" val="2910903454"/>
                  </a:ext>
                </a:extLst>
              </a:tr>
              <a:tr h="324863">
                <a:tc>
                  <a:txBody>
                    <a:bodyPr/>
                    <a:lstStyle/>
                    <a:p>
                      <a:pPr>
                        <a:buNone/>
                      </a:pPr>
                      <a:r>
                        <a:rPr lang="en-US" sz="1400" b="0" i="0" kern="1200" dirty="0">
                          <a:solidFill>
                            <a:schemeClr val="dk1"/>
                          </a:solidFill>
                          <a:effectLst/>
                          <a:latin typeface="+mn-lt"/>
                          <a:ea typeface="+mn-ea"/>
                          <a:cs typeface="+mn-cs"/>
                        </a:rPr>
                        <a:t>TAXI_OUT </a:t>
                      </a:r>
                      <a:endParaRPr lang="en-US" sz="1400" dirty="0"/>
                    </a:p>
                  </a:txBody>
                  <a:tcPr anchor="ctr"/>
                </a:tc>
                <a:tc>
                  <a:txBody>
                    <a:bodyPr/>
                    <a:lstStyle/>
                    <a:p>
                      <a:r>
                        <a:rPr lang="en-GB" sz="1400" dirty="0"/>
                        <a:t>Float</a:t>
                      </a:r>
                      <a:endParaRPr lang="en-UG" sz="1400" dirty="0"/>
                    </a:p>
                  </a:txBody>
                  <a:tcPr/>
                </a:tc>
                <a:tc>
                  <a:txBody>
                    <a:bodyPr/>
                    <a:lstStyle/>
                    <a:p>
                      <a:r>
                        <a:rPr lang="en-US" sz="1400" dirty="0"/>
                        <a:t>Minutes spent taxiing before takeoff</a:t>
                      </a:r>
                      <a:endParaRPr lang="en-UG" sz="1400" dirty="0"/>
                    </a:p>
                  </a:txBody>
                  <a:tcPr/>
                </a:tc>
                <a:tc>
                  <a:txBody>
                    <a:bodyPr/>
                    <a:lstStyle/>
                    <a:p>
                      <a:r>
                        <a:rPr lang="en-US" sz="1400" dirty="0"/>
                        <a:t>14.0</a:t>
                      </a:r>
                    </a:p>
                  </a:txBody>
                  <a:tcPr/>
                </a:tc>
                <a:extLst>
                  <a:ext uri="{0D108BD9-81ED-4DB2-BD59-A6C34878D82A}">
                    <a16:rowId xmlns:a16="http://schemas.microsoft.com/office/drawing/2014/main" val="3427461708"/>
                  </a:ext>
                </a:extLst>
              </a:tr>
              <a:tr h="324863">
                <a:tc>
                  <a:txBody>
                    <a:bodyPr/>
                    <a:lstStyle/>
                    <a:p>
                      <a:pPr>
                        <a:buNone/>
                      </a:pPr>
                      <a:r>
                        <a:rPr lang="en-US" sz="1400" dirty="0"/>
                        <a:t>WHEELS_OFF</a:t>
                      </a:r>
                    </a:p>
                  </a:txBody>
                  <a:tcPr anchor="ctr"/>
                </a:tc>
                <a:tc>
                  <a:txBody>
                    <a:bodyPr/>
                    <a:lstStyle/>
                    <a:p>
                      <a:r>
                        <a:rPr lang="en-GB" sz="1400" dirty="0"/>
                        <a:t>Float</a:t>
                      </a:r>
                      <a:endParaRPr lang="en-UG" sz="1400" dirty="0"/>
                    </a:p>
                  </a:txBody>
                  <a:tcPr/>
                </a:tc>
                <a:tc>
                  <a:txBody>
                    <a:bodyPr/>
                    <a:lstStyle/>
                    <a:p>
                      <a:r>
                        <a:rPr lang="en-US" sz="1400" dirty="0"/>
                        <a:t>Time plane sets off ground from depart time</a:t>
                      </a:r>
                      <a:endParaRPr lang="en-UG" sz="1400" dirty="0"/>
                    </a:p>
                  </a:txBody>
                  <a:tcPr/>
                </a:tc>
                <a:tc>
                  <a:txBody>
                    <a:bodyPr/>
                    <a:lstStyle/>
                    <a:p>
                      <a:r>
                        <a:rPr lang="en-US" sz="1400" dirty="0"/>
                        <a:t>11.0</a:t>
                      </a:r>
                    </a:p>
                  </a:txBody>
                  <a:tcPr/>
                </a:tc>
                <a:extLst>
                  <a:ext uri="{0D108BD9-81ED-4DB2-BD59-A6C34878D82A}">
                    <a16:rowId xmlns:a16="http://schemas.microsoft.com/office/drawing/2014/main" val="675283522"/>
                  </a:ext>
                </a:extLst>
              </a:tr>
              <a:tr h="324863">
                <a:tc>
                  <a:txBody>
                    <a:bodyPr/>
                    <a:lstStyle/>
                    <a:p>
                      <a:pPr>
                        <a:buNone/>
                      </a:pPr>
                      <a:r>
                        <a:rPr lang="en-US" sz="1400" b="0" i="0" kern="1200" dirty="0">
                          <a:solidFill>
                            <a:schemeClr val="dk1"/>
                          </a:solidFill>
                          <a:effectLst/>
                          <a:latin typeface="+mn-lt"/>
                          <a:ea typeface="+mn-ea"/>
                          <a:cs typeface="+mn-cs"/>
                        </a:rPr>
                        <a:t>TAXI_IN </a:t>
                      </a:r>
                      <a:endParaRPr lang="en-US" sz="1400" dirty="0"/>
                    </a:p>
                  </a:txBody>
                  <a:tcPr anchor="ctr"/>
                </a:tc>
                <a:tc>
                  <a:txBody>
                    <a:bodyPr/>
                    <a:lstStyle/>
                    <a:p>
                      <a:r>
                        <a:rPr lang="en-GB" sz="1400" dirty="0"/>
                        <a:t>Float</a:t>
                      </a:r>
                      <a:endParaRPr lang="en-UG" sz="1400" dirty="0"/>
                    </a:p>
                  </a:txBody>
                  <a:tcPr/>
                </a:tc>
                <a:tc>
                  <a:txBody>
                    <a:bodyPr/>
                    <a:lstStyle/>
                    <a:p>
                      <a:r>
                        <a:rPr lang="en-US" sz="1400" dirty="0"/>
                        <a:t>Minutes spent taxiing after landing</a:t>
                      </a:r>
                      <a:endParaRPr lang="en-UG" sz="1400" dirty="0"/>
                    </a:p>
                  </a:txBody>
                  <a:tcPr/>
                </a:tc>
                <a:tc>
                  <a:txBody>
                    <a:bodyPr/>
                    <a:lstStyle/>
                    <a:p>
                      <a:r>
                        <a:rPr lang="en-US" sz="1400" dirty="0"/>
                        <a:t>5</a:t>
                      </a:r>
                    </a:p>
                  </a:txBody>
                  <a:tcPr/>
                </a:tc>
                <a:extLst>
                  <a:ext uri="{0D108BD9-81ED-4DB2-BD59-A6C34878D82A}">
                    <a16:rowId xmlns:a16="http://schemas.microsoft.com/office/drawing/2014/main" val="3950847863"/>
                  </a:ext>
                </a:extLst>
              </a:tr>
              <a:tr h="324863">
                <a:tc>
                  <a:txBody>
                    <a:bodyPr/>
                    <a:lstStyle/>
                    <a:p>
                      <a:pPr>
                        <a:buNone/>
                      </a:pPr>
                      <a:r>
                        <a:rPr lang="en-US" sz="1400" b="0" i="0" kern="1200" dirty="0">
                          <a:solidFill>
                            <a:schemeClr val="dk1"/>
                          </a:solidFill>
                          <a:effectLst/>
                          <a:latin typeface="+mn-lt"/>
                          <a:ea typeface="+mn-ea"/>
                          <a:cs typeface="+mn-cs"/>
                        </a:rPr>
                        <a:t>SCHEDULED_ARRIVAL </a:t>
                      </a:r>
                      <a:endParaRPr lang="en-US" sz="1400" dirty="0"/>
                    </a:p>
                  </a:txBody>
                  <a:tcPr anchor="ctr"/>
                </a:tc>
                <a:tc>
                  <a:txBody>
                    <a:bodyPr/>
                    <a:lstStyle/>
                    <a:p>
                      <a:r>
                        <a:rPr lang="en-GB" sz="1400" dirty="0"/>
                        <a:t>Integer</a:t>
                      </a:r>
                      <a:endParaRPr lang="en-UG" sz="1400" dirty="0"/>
                    </a:p>
                  </a:txBody>
                  <a:tcPr/>
                </a:tc>
                <a:tc>
                  <a:txBody>
                    <a:bodyPr/>
                    <a:lstStyle/>
                    <a:p>
                      <a:r>
                        <a:rPr lang="en-US" sz="1400" dirty="0"/>
                        <a:t>Planned arrival time (HHMM format)</a:t>
                      </a:r>
                      <a:endParaRPr lang="en-UG" sz="1400" dirty="0"/>
                    </a:p>
                  </a:txBody>
                  <a:tcPr/>
                </a:tc>
                <a:tc>
                  <a:txBody>
                    <a:bodyPr/>
                    <a:lstStyle/>
                    <a:p>
                      <a:r>
                        <a:rPr lang="en-US" sz="1400" dirty="0"/>
                        <a:t>740 (7:40 AM)</a:t>
                      </a:r>
                    </a:p>
                  </a:txBody>
                  <a:tcPr/>
                </a:tc>
                <a:extLst>
                  <a:ext uri="{0D108BD9-81ED-4DB2-BD59-A6C34878D82A}">
                    <a16:rowId xmlns:a16="http://schemas.microsoft.com/office/drawing/2014/main" val="2340492625"/>
                  </a:ext>
                </a:extLst>
              </a:tr>
              <a:tr h="324863">
                <a:tc>
                  <a:txBody>
                    <a:bodyPr/>
                    <a:lstStyle/>
                    <a:p>
                      <a:pPr>
                        <a:buNone/>
                      </a:pPr>
                      <a:r>
                        <a:rPr lang="en-US" sz="1400" b="0" i="0" kern="1200" dirty="0">
                          <a:solidFill>
                            <a:schemeClr val="dk1"/>
                          </a:solidFill>
                          <a:effectLst/>
                          <a:latin typeface="+mn-lt"/>
                          <a:ea typeface="+mn-ea"/>
                          <a:cs typeface="+mn-cs"/>
                        </a:rPr>
                        <a:t>ARRIVAL_TIME </a:t>
                      </a:r>
                      <a:endParaRPr lang="en-US" sz="1400" dirty="0"/>
                    </a:p>
                  </a:txBody>
                  <a:tcPr anchor="ctr"/>
                </a:tc>
                <a:tc>
                  <a:txBody>
                    <a:bodyPr/>
                    <a:lstStyle/>
                    <a:p>
                      <a:r>
                        <a:rPr lang="en-GB" sz="1400" dirty="0"/>
                        <a:t>Float</a:t>
                      </a:r>
                      <a:endParaRPr lang="en-UG" sz="1400" dirty="0"/>
                    </a:p>
                  </a:txBody>
                  <a:tcPr/>
                </a:tc>
                <a:tc>
                  <a:txBody>
                    <a:bodyPr/>
                    <a:lstStyle/>
                    <a:p>
                      <a:r>
                        <a:rPr lang="en-US" sz="1400" dirty="0"/>
                        <a:t>Actual arrival time</a:t>
                      </a:r>
                      <a:endParaRPr lang="en-UG" sz="1400" dirty="0"/>
                    </a:p>
                  </a:txBody>
                  <a:tcPr/>
                </a:tc>
                <a:tc>
                  <a:txBody>
                    <a:bodyPr/>
                    <a:lstStyle/>
                    <a:p>
                      <a:r>
                        <a:rPr lang="en-US" sz="1400" dirty="0"/>
                        <a:t>751</a:t>
                      </a:r>
                    </a:p>
                  </a:txBody>
                  <a:tcPr/>
                </a:tc>
                <a:extLst>
                  <a:ext uri="{0D108BD9-81ED-4DB2-BD59-A6C34878D82A}">
                    <a16:rowId xmlns:a16="http://schemas.microsoft.com/office/drawing/2014/main" val="604009108"/>
                  </a:ext>
                </a:extLst>
              </a:tr>
              <a:tr h="324863">
                <a:tc>
                  <a:txBody>
                    <a:bodyPr/>
                    <a:lstStyle/>
                    <a:p>
                      <a:pPr>
                        <a:buNone/>
                      </a:pPr>
                      <a:r>
                        <a:rPr lang="en-US" sz="1400" b="0" i="0" kern="1200" dirty="0">
                          <a:solidFill>
                            <a:schemeClr val="dk1"/>
                          </a:solidFill>
                          <a:effectLst/>
                          <a:latin typeface="+mn-lt"/>
                          <a:ea typeface="+mn-ea"/>
                          <a:cs typeface="+mn-cs"/>
                        </a:rPr>
                        <a:t>ARRIVAL_DELAY </a:t>
                      </a:r>
                      <a:endParaRPr lang="en-US" sz="1400" dirty="0"/>
                    </a:p>
                  </a:txBody>
                  <a:tcPr anchor="ctr"/>
                </a:tc>
                <a:tc>
                  <a:txBody>
                    <a:bodyPr/>
                    <a:lstStyle/>
                    <a:p>
                      <a:r>
                        <a:rPr lang="en-GB" sz="1400" dirty="0"/>
                        <a:t>Float</a:t>
                      </a:r>
                      <a:endParaRPr lang="en-UG" sz="1400" dirty="0"/>
                    </a:p>
                  </a:txBody>
                  <a:tcPr/>
                </a:tc>
                <a:tc>
                  <a:txBody>
                    <a:bodyPr/>
                    <a:lstStyle/>
                    <a:p>
                      <a:r>
                        <a:rPr lang="en-US" sz="1400" dirty="0"/>
                        <a:t>Delay at arrival in min. (TARGET VARIABLE)</a:t>
                      </a:r>
                      <a:endParaRPr lang="en-UG" sz="1400" dirty="0"/>
                    </a:p>
                  </a:txBody>
                  <a:tcPr/>
                </a:tc>
                <a:tc>
                  <a:txBody>
                    <a:bodyPr/>
                    <a:lstStyle/>
                    <a:p>
                      <a:r>
                        <a:rPr lang="en-US" sz="1400" dirty="0"/>
                        <a:t>-8</a:t>
                      </a:r>
                    </a:p>
                  </a:txBody>
                  <a:tcPr/>
                </a:tc>
                <a:extLst>
                  <a:ext uri="{0D108BD9-81ED-4DB2-BD59-A6C34878D82A}">
                    <a16:rowId xmlns:a16="http://schemas.microsoft.com/office/drawing/2014/main" val="4175424187"/>
                  </a:ext>
                </a:extLst>
              </a:tr>
              <a:tr h="324863">
                <a:tc>
                  <a:txBody>
                    <a:bodyPr/>
                    <a:lstStyle/>
                    <a:p>
                      <a:pPr>
                        <a:buNone/>
                      </a:pPr>
                      <a:r>
                        <a:rPr lang="en-US" sz="1400" dirty="0"/>
                        <a:t>DISTANCE</a:t>
                      </a:r>
                    </a:p>
                  </a:txBody>
                  <a:tcPr anchor="ctr"/>
                </a:tc>
                <a:tc>
                  <a:txBody>
                    <a:bodyPr/>
                    <a:lstStyle/>
                    <a:p>
                      <a:r>
                        <a:rPr lang="en-GB" sz="1400" dirty="0"/>
                        <a:t>Float</a:t>
                      </a:r>
                      <a:endParaRPr lang="en-UG" sz="1400" dirty="0"/>
                    </a:p>
                  </a:txBody>
                  <a:tcPr/>
                </a:tc>
                <a:tc>
                  <a:txBody>
                    <a:bodyPr/>
                    <a:lstStyle/>
                    <a:p>
                      <a:r>
                        <a:rPr lang="en-GB" sz="1400" dirty="0"/>
                        <a:t>Distance between origin and destination</a:t>
                      </a:r>
                      <a:endParaRPr lang="en-UG" sz="1400" dirty="0"/>
                    </a:p>
                  </a:txBody>
                  <a:tcPr/>
                </a:tc>
                <a:tc>
                  <a:txBody>
                    <a:bodyPr/>
                    <a:lstStyle/>
                    <a:p>
                      <a:r>
                        <a:rPr lang="en-US" sz="1400" dirty="0"/>
                        <a:t>200 Miles</a:t>
                      </a:r>
                    </a:p>
                  </a:txBody>
                  <a:tcPr/>
                </a:tc>
                <a:extLst>
                  <a:ext uri="{0D108BD9-81ED-4DB2-BD59-A6C34878D82A}">
                    <a16:rowId xmlns:a16="http://schemas.microsoft.com/office/drawing/2014/main" val="3882059505"/>
                  </a:ext>
                </a:extLst>
              </a:tr>
            </a:tbl>
          </a:graphicData>
        </a:graphic>
      </p:graphicFrame>
    </p:spTree>
    <p:extLst>
      <p:ext uri="{BB962C8B-B14F-4D97-AF65-F5344CB8AC3E}">
        <p14:creationId xmlns:p14="http://schemas.microsoft.com/office/powerpoint/2010/main" val="3763049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629F3-5353-A03D-3B72-9B9F13049D2F}"/>
              </a:ext>
            </a:extLst>
          </p:cNvPr>
          <p:cNvSpPr>
            <a:spLocks noGrp="1"/>
          </p:cNvSpPr>
          <p:nvPr>
            <p:ph type="title"/>
          </p:nvPr>
        </p:nvSpPr>
        <p:spPr>
          <a:xfrm>
            <a:off x="415413" y="266803"/>
            <a:ext cx="10515600" cy="657430"/>
          </a:xfrm>
        </p:spPr>
        <p:txBody>
          <a:bodyPr>
            <a:normAutofit/>
          </a:bodyPr>
          <a:lstStyle/>
          <a:p>
            <a:r>
              <a:rPr lang="en-US" sz="3000" dirty="0"/>
              <a:t>KEY FEATURES</a:t>
            </a:r>
            <a:endParaRPr lang="en-UG" sz="3000" dirty="0"/>
          </a:p>
        </p:txBody>
      </p:sp>
      <p:sp>
        <p:nvSpPr>
          <p:cNvPr id="3" name="Content Placeholder 2">
            <a:extLst>
              <a:ext uri="{FF2B5EF4-FFF2-40B4-BE49-F238E27FC236}">
                <a16:creationId xmlns:a16="http://schemas.microsoft.com/office/drawing/2014/main" id="{842AF7A8-9444-5813-4B98-89EDCCDEF8B6}"/>
              </a:ext>
            </a:extLst>
          </p:cNvPr>
          <p:cNvSpPr>
            <a:spLocks noGrp="1"/>
          </p:cNvSpPr>
          <p:nvPr>
            <p:ph idx="1"/>
          </p:nvPr>
        </p:nvSpPr>
        <p:spPr>
          <a:xfrm>
            <a:off x="415413" y="924234"/>
            <a:ext cx="11363632" cy="2300748"/>
          </a:xfrm>
        </p:spPr>
        <p:txBody>
          <a:bodyPr>
            <a:noAutofit/>
          </a:bodyPr>
          <a:lstStyle/>
          <a:p>
            <a:pPr marL="0" indent="0">
              <a:buNone/>
            </a:pPr>
            <a:r>
              <a:rPr lang="en-US" sz="2400" dirty="0"/>
              <a:t>Important variables used in this project include:</a:t>
            </a:r>
          </a:p>
          <a:p>
            <a:r>
              <a:rPr lang="en-US" sz="2400" dirty="0"/>
              <a:t>Flight Details – Airline, Flight number, Distance </a:t>
            </a:r>
          </a:p>
          <a:p>
            <a:r>
              <a:rPr lang="en-US" sz="2400" dirty="0"/>
              <a:t>Time Information - Scheduled departure &amp; arrival, Actual departure &amp; arrival </a:t>
            </a:r>
          </a:p>
          <a:p>
            <a:r>
              <a:rPr lang="en-US" sz="2400" dirty="0"/>
              <a:t>Delay Metrics - Departure delay, Arrival delay</a:t>
            </a:r>
          </a:p>
          <a:p>
            <a:r>
              <a:rPr lang="en-US" sz="2400" dirty="0"/>
              <a:t>Other Factors - Weather delay, Airline delay, Air system delay</a:t>
            </a:r>
          </a:p>
          <a:p>
            <a:endParaRPr lang="en-US" sz="2400" dirty="0"/>
          </a:p>
          <a:p>
            <a:pPr marL="0" indent="0">
              <a:buNone/>
            </a:pPr>
            <a:endParaRPr lang="en-UG" sz="2400" dirty="0"/>
          </a:p>
        </p:txBody>
      </p:sp>
      <p:sp>
        <p:nvSpPr>
          <p:cNvPr id="5" name="TextBox 4">
            <a:extLst>
              <a:ext uri="{FF2B5EF4-FFF2-40B4-BE49-F238E27FC236}">
                <a16:creationId xmlns:a16="http://schemas.microsoft.com/office/drawing/2014/main" id="{580907BE-7529-1398-C112-A4605456ACFD}"/>
              </a:ext>
            </a:extLst>
          </p:cNvPr>
          <p:cNvSpPr txBox="1"/>
          <p:nvPr/>
        </p:nvSpPr>
        <p:spPr>
          <a:xfrm>
            <a:off x="516193" y="4099260"/>
            <a:ext cx="11262852" cy="2308324"/>
          </a:xfrm>
          <a:prstGeom prst="rect">
            <a:avLst/>
          </a:prstGeom>
          <a:noFill/>
        </p:spPr>
        <p:txBody>
          <a:bodyPr wrap="square">
            <a:spAutoFit/>
          </a:bodyPr>
          <a:lstStyle/>
          <a:p>
            <a:pPr marL="0" indent="0">
              <a:buNone/>
            </a:pPr>
            <a:r>
              <a:rPr lang="en-US" sz="2400" dirty="0"/>
              <a:t>Measured in </a:t>
            </a:r>
            <a:r>
              <a:rPr lang="en-US" sz="2400" b="1" dirty="0"/>
              <a:t>minutes</a:t>
            </a:r>
            <a:r>
              <a:rPr lang="en-US" sz="2400" dirty="0"/>
              <a:t> </a:t>
            </a:r>
          </a:p>
          <a:p>
            <a:pPr marL="0" indent="0">
              <a:buNone/>
            </a:pPr>
            <a:r>
              <a:rPr lang="en-US" sz="2400" dirty="0"/>
              <a:t>Can be: </a:t>
            </a:r>
          </a:p>
          <a:p>
            <a:pPr lvl="1"/>
            <a:r>
              <a:rPr lang="en-US" sz="2400" dirty="0"/>
              <a:t>Positive → Flight is late </a:t>
            </a:r>
          </a:p>
          <a:p>
            <a:pPr lvl="1"/>
            <a:r>
              <a:rPr lang="en-US" sz="2400" dirty="0"/>
              <a:t>Zero → On time </a:t>
            </a:r>
          </a:p>
          <a:p>
            <a:pPr lvl="1"/>
            <a:r>
              <a:rPr lang="en-US" sz="2400" dirty="0"/>
              <a:t>Negative → Early arrival </a:t>
            </a:r>
          </a:p>
          <a:p>
            <a:pPr marL="0" indent="0">
              <a:buNone/>
            </a:pPr>
            <a:r>
              <a:rPr lang="en-US" sz="2400" dirty="0"/>
              <a:t>This makes the problem a </a:t>
            </a:r>
            <a:r>
              <a:rPr lang="en-US" sz="2400" b="1" dirty="0"/>
              <a:t>Regression Task</a:t>
            </a:r>
            <a:endParaRPr lang="en-US" sz="2400" dirty="0"/>
          </a:p>
        </p:txBody>
      </p:sp>
      <p:sp>
        <p:nvSpPr>
          <p:cNvPr id="6" name="Title 1">
            <a:extLst>
              <a:ext uri="{FF2B5EF4-FFF2-40B4-BE49-F238E27FC236}">
                <a16:creationId xmlns:a16="http://schemas.microsoft.com/office/drawing/2014/main" id="{E56F43F1-A32A-A912-A96D-C54867FA9868}"/>
              </a:ext>
            </a:extLst>
          </p:cNvPr>
          <p:cNvSpPr txBox="1">
            <a:spLocks/>
          </p:cNvSpPr>
          <p:nvPr/>
        </p:nvSpPr>
        <p:spPr>
          <a:xfrm>
            <a:off x="412955" y="3416974"/>
            <a:ext cx="10515600" cy="6574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000" dirty="0">
                <a:solidFill>
                  <a:schemeClr val="accent1"/>
                </a:solidFill>
              </a:rPr>
              <a:t>TARGET VARIABLE - ARRIVAL_DELAY</a:t>
            </a:r>
          </a:p>
        </p:txBody>
      </p:sp>
    </p:spTree>
    <p:extLst>
      <p:ext uri="{BB962C8B-B14F-4D97-AF65-F5344CB8AC3E}">
        <p14:creationId xmlns:p14="http://schemas.microsoft.com/office/powerpoint/2010/main" val="1597020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1319C-7A88-8A40-44A7-A99026F081E8}"/>
              </a:ext>
            </a:extLst>
          </p:cNvPr>
          <p:cNvSpPr>
            <a:spLocks noGrp="1"/>
          </p:cNvSpPr>
          <p:nvPr>
            <p:ph type="title"/>
          </p:nvPr>
        </p:nvSpPr>
        <p:spPr>
          <a:xfrm>
            <a:off x="470856" y="294967"/>
            <a:ext cx="8596668" cy="599768"/>
          </a:xfrm>
        </p:spPr>
        <p:txBody>
          <a:bodyPr>
            <a:normAutofit/>
          </a:bodyPr>
          <a:lstStyle/>
          <a:p>
            <a:r>
              <a:rPr lang="en-GB" sz="3000" dirty="0"/>
              <a:t>EXPLORATORY DATA ANALYSIS</a:t>
            </a:r>
            <a:endParaRPr lang="en-UG" sz="3000" dirty="0"/>
          </a:p>
        </p:txBody>
      </p:sp>
      <p:sp>
        <p:nvSpPr>
          <p:cNvPr id="3" name="Content Placeholder 2">
            <a:extLst>
              <a:ext uri="{FF2B5EF4-FFF2-40B4-BE49-F238E27FC236}">
                <a16:creationId xmlns:a16="http://schemas.microsoft.com/office/drawing/2014/main" id="{A658BC08-B5CE-7F21-1832-270CDBCFE361}"/>
              </a:ext>
            </a:extLst>
          </p:cNvPr>
          <p:cNvSpPr>
            <a:spLocks noGrp="1"/>
          </p:cNvSpPr>
          <p:nvPr>
            <p:ph idx="1"/>
          </p:nvPr>
        </p:nvSpPr>
        <p:spPr>
          <a:xfrm>
            <a:off x="470856" y="1039712"/>
            <a:ext cx="11259028" cy="5292262"/>
          </a:xfrm>
        </p:spPr>
        <p:txBody>
          <a:bodyPr>
            <a:normAutofit/>
          </a:bodyPr>
          <a:lstStyle/>
          <a:p>
            <a:pPr marL="0" indent="0">
              <a:buNone/>
            </a:pPr>
            <a:r>
              <a:rPr lang="en-GB" sz="2000" b="1" dirty="0"/>
              <a:t>Summary Statistics:</a:t>
            </a:r>
          </a:p>
          <a:p>
            <a:r>
              <a:rPr lang="en-GB" sz="2000" dirty="0"/>
              <a:t>The dataset (flights table) contains 5819079 rows and 31 columns</a:t>
            </a:r>
          </a:p>
          <a:p>
            <a:r>
              <a:rPr lang="en-GB" sz="2000" dirty="0"/>
              <a:t>It includes both Numerical &amp; Categorical variables</a:t>
            </a:r>
          </a:p>
          <a:p>
            <a:r>
              <a:rPr lang="en-GB" sz="2000" dirty="0"/>
              <a:t>Some columns contain missing values</a:t>
            </a:r>
          </a:p>
          <a:p>
            <a:r>
              <a:rPr lang="en-GB" sz="2000" dirty="0"/>
              <a:t>The dataset does not have any duplicate records</a:t>
            </a:r>
          </a:p>
          <a:p>
            <a:pPr marL="0" indent="0">
              <a:buNone/>
            </a:pPr>
            <a:endParaRPr lang="en-GB" sz="2000" dirty="0"/>
          </a:p>
          <a:p>
            <a:pPr marL="0" indent="0">
              <a:buNone/>
            </a:pPr>
            <a:endParaRPr lang="en-GB" sz="2000" b="1" dirty="0"/>
          </a:p>
          <a:p>
            <a:pPr marL="0" indent="0">
              <a:buNone/>
            </a:pPr>
            <a:endParaRPr lang="en-GB" sz="2000" dirty="0"/>
          </a:p>
          <a:p>
            <a:pPr marL="0" indent="0">
              <a:buNone/>
            </a:pPr>
            <a:endParaRPr lang="en-GB" sz="2000" dirty="0"/>
          </a:p>
        </p:txBody>
      </p:sp>
    </p:spTree>
    <p:extLst>
      <p:ext uri="{BB962C8B-B14F-4D97-AF65-F5344CB8AC3E}">
        <p14:creationId xmlns:p14="http://schemas.microsoft.com/office/powerpoint/2010/main" val="1568666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72E2286-F895-1B78-7775-82CB8F79334A}"/>
              </a:ext>
            </a:extLst>
          </p:cNvPr>
          <p:cNvSpPr>
            <a:spLocks noGrp="1"/>
          </p:cNvSpPr>
          <p:nvPr>
            <p:ph idx="1"/>
          </p:nvPr>
        </p:nvSpPr>
        <p:spPr>
          <a:xfrm>
            <a:off x="284044" y="233466"/>
            <a:ext cx="11671982" cy="6383643"/>
          </a:xfrm>
        </p:spPr>
        <p:txBody>
          <a:bodyPr>
            <a:noAutofit/>
          </a:bodyPr>
          <a:lstStyle/>
          <a:p>
            <a:pPr marL="0" indent="0">
              <a:buNone/>
            </a:pPr>
            <a:r>
              <a:rPr lang="en-GB" sz="2000" b="1" dirty="0"/>
              <a:t>Data Visualisations:</a:t>
            </a:r>
          </a:p>
          <a:p>
            <a:r>
              <a:rPr lang="en-GB" sz="2000" dirty="0"/>
              <a:t>A Histogram &amp; Boxplot for the Distribution of Arrival Delays shows that most flights have small delays (arrive on time) while some extreme delays are also observed (outliers)</a:t>
            </a:r>
          </a:p>
          <a:p>
            <a:r>
              <a:rPr lang="en-GB" sz="2000" dirty="0"/>
              <a:t>A Bar chart of Average delay per airline shows that some airlines (Spirit Airlines &amp; Frontier Airlines Inc.) consistently have higher delays, while Alaska Airlines Inc. flights usually arrive much earlier</a:t>
            </a:r>
          </a:p>
          <a:p>
            <a:r>
              <a:rPr lang="en-GB" sz="2000" dirty="0"/>
              <a:t>A Count plot for the </a:t>
            </a:r>
            <a:r>
              <a:rPr lang="en-US" sz="2000" dirty="0"/>
              <a:t>Distribution of Flights per Airline shows that Southwest Airlines Co. operated the highest number of flights in 2015</a:t>
            </a:r>
          </a:p>
          <a:p>
            <a:r>
              <a:rPr lang="en-GB" sz="2000" dirty="0"/>
              <a:t>A Bar chart for Arrival Delays vs Departure Hour shows that delays tend to increase throughout the day, with the highest occurring around 6 &amp; 7 PM.</a:t>
            </a:r>
          </a:p>
          <a:p>
            <a:r>
              <a:rPr lang="en-US" sz="2000" dirty="0"/>
              <a:t>A Scatterplot for Arrival Delay vs Departure Delay shows a huge impact departure delay has on arrival delay. Flights that depart late generally arrive late as well, although some flights manage to reduce their delay during the journey. This confirms that departure delay is a strong predictor of arrival delay.</a:t>
            </a:r>
            <a:endParaRPr lang="en-GB" sz="2000" dirty="0"/>
          </a:p>
          <a:p>
            <a:r>
              <a:rPr lang="en-GB" sz="2000" dirty="0"/>
              <a:t>A Scatterplot for </a:t>
            </a:r>
            <a:r>
              <a:rPr lang="en-US" sz="2000" dirty="0"/>
              <a:t>Arrival Delay vs Distance covered by plane shows a weak relationship between the two. Long flights are not always delayed more.</a:t>
            </a:r>
          </a:p>
          <a:p>
            <a:pPr marL="0" indent="0">
              <a:buNone/>
            </a:pPr>
            <a:endParaRPr lang="en-US" sz="2000" b="1" dirty="0"/>
          </a:p>
          <a:p>
            <a:pPr marL="0" indent="0">
              <a:buNone/>
            </a:pPr>
            <a:endParaRPr lang="en-GB" sz="2000" b="1" dirty="0"/>
          </a:p>
          <a:p>
            <a:pPr marL="0" indent="0">
              <a:buNone/>
            </a:pPr>
            <a:endParaRPr lang="en-GB" sz="2000" dirty="0"/>
          </a:p>
          <a:p>
            <a:pPr marL="0" indent="0">
              <a:buNone/>
            </a:pPr>
            <a:endParaRPr lang="en-GB" sz="2000" dirty="0"/>
          </a:p>
        </p:txBody>
      </p:sp>
    </p:spTree>
    <p:extLst>
      <p:ext uri="{BB962C8B-B14F-4D97-AF65-F5344CB8AC3E}">
        <p14:creationId xmlns:p14="http://schemas.microsoft.com/office/powerpoint/2010/main" val="19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644CF-9F38-65EF-28C5-82A4924A03B0}"/>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96628EB-8FB4-F8EE-2981-02A5FE65C955}"/>
              </a:ext>
            </a:extLst>
          </p:cNvPr>
          <p:cNvSpPr>
            <a:spLocks noGrp="1"/>
          </p:cNvSpPr>
          <p:nvPr>
            <p:ph idx="1"/>
          </p:nvPr>
        </p:nvSpPr>
        <p:spPr>
          <a:xfrm>
            <a:off x="284044" y="560439"/>
            <a:ext cx="11671982" cy="6056670"/>
          </a:xfrm>
        </p:spPr>
        <p:txBody>
          <a:bodyPr>
            <a:noAutofit/>
          </a:bodyPr>
          <a:lstStyle/>
          <a:p>
            <a:r>
              <a:rPr lang="en-US" sz="2000" dirty="0"/>
              <a:t>The correlation heatmap provides a visual overview of relationships among numeric flight variables. The strongest positive correlation is observed between departure delay and arrival delay, confirming that late departures are a major driver of late arrivals. </a:t>
            </a:r>
          </a:p>
          <a:p>
            <a:r>
              <a:rPr lang="en-US" sz="2000" dirty="0"/>
              <a:t>Taxi-out time also shows a moderate positive correlation with arrival delay, suggesting that airport congestion contributes to overall delays. </a:t>
            </a:r>
          </a:p>
          <a:p>
            <a:r>
              <a:rPr lang="en-US" sz="2000" dirty="0"/>
              <a:t>Flight distance and air time, however, exhibit weaker correlations with arrival delay, indicating that the length of the flight itself is less predictive of punctuality. </a:t>
            </a:r>
          </a:p>
          <a:p>
            <a:r>
              <a:rPr lang="en-US" sz="2000" dirty="0"/>
              <a:t>Negative or near-zero correlations (such as between day of week and arrival delay) highlight variables that have little direct influence on delay duration. </a:t>
            </a:r>
          </a:p>
          <a:p>
            <a:pPr marL="0" indent="0">
              <a:buNone/>
            </a:pPr>
            <a:endParaRPr lang="en-GB" sz="2000" dirty="0"/>
          </a:p>
          <a:p>
            <a:pPr marL="0" indent="0">
              <a:buNone/>
            </a:pPr>
            <a:endParaRPr lang="en-GB" sz="2000" dirty="0"/>
          </a:p>
          <a:p>
            <a:pPr marL="0" indent="0">
              <a:buNone/>
            </a:pPr>
            <a:endParaRPr lang="en-GB" sz="2000" dirty="0"/>
          </a:p>
        </p:txBody>
      </p:sp>
    </p:spTree>
    <p:extLst>
      <p:ext uri="{BB962C8B-B14F-4D97-AF65-F5344CB8AC3E}">
        <p14:creationId xmlns:p14="http://schemas.microsoft.com/office/powerpoint/2010/main" val="1763385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4C27-BFEE-14BC-F77B-828007BA7933}"/>
              </a:ext>
            </a:extLst>
          </p:cNvPr>
          <p:cNvSpPr>
            <a:spLocks noGrp="1"/>
          </p:cNvSpPr>
          <p:nvPr>
            <p:ph type="title"/>
          </p:nvPr>
        </p:nvSpPr>
        <p:spPr>
          <a:xfrm>
            <a:off x="677334" y="432619"/>
            <a:ext cx="8596668" cy="589936"/>
          </a:xfrm>
        </p:spPr>
        <p:txBody>
          <a:bodyPr>
            <a:normAutofit fontScale="90000"/>
          </a:bodyPr>
          <a:lstStyle/>
          <a:p>
            <a:r>
              <a:rPr lang="en-GB" sz="3000" b="1" dirty="0"/>
              <a:t>Key Insights / Findings from EDA:</a:t>
            </a:r>
            <a:br>
              <a:rPr lang="en-GB" sz="3000" b="1" dirty="0"/>
            </a:br>
            <a:endParaRPr lang="en-UG" sz="3000" dirty="0"/>
          </a:p>
        </p:txBody>
      </p:sp>
      <p:sp>
        <p:nvSpPr>
          <p:cNvPr id="3" name="Content Placeholder 2">
            <a:extLst>
              <a:ext uri="{FF2B5EF4-FFF2-40B4-BE49-F238E27FC236}">
                <a16:creationId xmlns:a16="http://schemas.microsoft.com/office/drawing/2014/main" id="{4403E688-4EAD-8B7D-FE21-5682D1035CC6}"/>
              </a:ext>
            </a:extLst>
          </p:cNvPr>
          <p:cNvSpPr>
            <a:spLocks noGrp="1"/>
          </p:cNvSpPr>
          <p:nvPr>
            <p:ph idx="1"/>
          </p:nvPr>
        </p:nvSpPr>
        <p:spPr>
          <a:xfrm>
            <a:off x="677334" y="1305183"/>
            <a:ext cx="10442950" cy="4889140"/>
          </a:xfrm>
        </p:spPr>
        <p:txBody>
          <a:bodyPr>
            <a:normAutofit/>
          </a:bodyPr>
          <a:lstStyle/>
          <a:p>
            <a:r>
              <a:rPr lang="en-GB" sz="2000" dirty="0"/>
              <a:t>Majority of flights are on-time / slightly delayed</a:t>
            </a:r>
          </a:p>
          <a:p>
            <a:r>
              <a:rPr lang="en-GB" sz="2000" dirty="0"/>
              <a:t>Departure Delay strongly influences Arrival delay</a:t>
            </a:r>
          </a:p>
          <a:p>
            <a:r>
              <a:rPr lang="en-GB" sz="2000" dirty="0"/>
              <a:t>Delays tend to increase later in the day</a:t>
            </a:r>
          </a:p>
          <a:p>
            <a:r>
              <a:rPr lang="en-GB" sz="2000" dirty="0"/>
              <a:t>Some Airlines consistently show higher delays</a:t>
            </a:r>
          </a:p>
          <a:p>
            <a:r>
              <a:rPr lang="en-GB" sz="2000" dirty="0"/>
              <a:t>Distance has minimal impact on Arrival delay</a:t>
            </a:r>
          </a:p>
          <a:p>
            <a:endParaRPr lang="en-UG" sz="2000" dirty="0"/>
          </a:p>
        </p:txBody>
      </p:sp>
    </p:spTree>
    <p:extLst>
      <p:ext uri="{BB962C8B-B14F-4D97-AF65-F5344CB8AC3E}">
        <p14:creationId xmlns:p14="http://schemas.microsoft.com/office/powerpoint/2010/main" val="696007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AFF5-E01C-492E-2A1D-F3EF675401B3}"/>
              </a:ext>
            </a:extLst>
          </p:cNvPr>
          <p:cNvSpPr>
            <a:spLocks noGrp="1"/>
          </p:cNvSpPr>
          <p:nvPr>
            <p:ph type="title"/>
          </p:nvPr>
        </p:nvSpPr>
        <p:spPr>
          <a:xfrm>
            <a:off x="677334" y="428264"/>
            <a:ext cx="8596668" cy="776748"/>
          </a:xfrm>
        </p:spPr>
        <p:txBody>
          <a:bodyPr>
            <a:normAutofit/>
          </a:bodyPr>
          <a:lstStyle/>
          <a:p>
            <a:r>
              <a:rPr lang="en-GB" sz="3000" dirty="0"/>
              <a:t>MACHINE LEARNING</a:t>
            </a:r>
            <a:endParaRPr lang="en-UG" sz="3000" dirty="0"/>
          </a:p>
        </p:txBody>
      </p:sp>
      <p:sp>
        <p:nvSpPr>
          <p:cNvPr id="3" name="Content Placeholder 2">
            <a:extLst>
              <a:ext uri="{FF2B5EF4-FFF2-40B4-BE49-F238E27FC236}">
                <a16:creationId xmlns:a16="http://schemas.microsoft.com/office/drawing/2014/main" id="{80962920-FDE1-4B6E-4F68-AF8A93ACC927}"/>
              </a:ext>
            </a:extLst>
          </p:cNvPr>
          <p:cNvSpPr>
            <a:spLocks noGrp="1"/>
          </p:cNvSpPr>
          <p:nvPr>
            <p:ph idx="1"/>
          </p:nvPr>
        </p:nvSpPr>
        <p:spPr>
          <a:xfrm>
            <a:off x="677334" y="1205012"/>
            <a:ext cx="10837332" cy="5224724"/>
          </a:xfrm>
        </p:spPr>
        <p:txBody>
          <a:bodyPr>
            <a:normAutofit/>
          </a:bodyPr>
          <a:lstStyle/>
          <a:p>
            <a:pPr marL="0" indent="0">
              <a:buNone/>
            </a:pPr>
            <a:r>
              <a:rPr lang="en-GB" sz="2000" b="1" dirty="0"/>
              <a:t>Data Cleaning &amp; Preparation for ML:</a:t>
            </a:r>
          </a:p>
          <a:p>
            <a:r>
              <a:rPr lang="en-US" sz="2000" dirty="0"/>
              <a:t>Rows with the missing target value (ARRIVAL DELAY) were dropped</a:t>
            </a:r>
          </a:p>
          <a:p>
            <a:r>
              <a:rPr lang="en-US" sz="2000" dirty="0"/>
              <a:t>Cancelled and diverted flights were excluded from the dataset since they lack meaningful arrival delay values. This step reduced noise and ensured that the regression model focuses only on flights with complete operational records</a:t>
            </a:r>
          </a:p>
          <a:p>
            <a:r>
              <a:rPr lang="en-US" sz="2000" dirty="0"/>
              <a:t>Columns that served as identifiers (e.g., flight number, tail number), redundant flags (cancelled, diverted), and post-outcome delay causes were dropped. These features either lacked predictive value or risked introducing data leakage. </a:t>
            </a:r>
          </a:p>
          <a:p>
            <a:r>
              <a:rPr lang="en-US" sz="2000" dirty="0"/>
              <a:t>The categorical variables (airline, origin, destination) were later dropped as they introduced inconsistencies between training and demo inputs due to misaligned encoders. This caused extreme predictions and reduced reliability of the model.</a:t>
            </a:r>
          </a:p>
          <a:p>
            <a:r>
              <a:rPr lang="en-US" sz="2000" dirty="0"/>
              <a:t>The retained numeric features focus on schedule and operational metrics which are relevant for predicting arrival delays</a:t>
            </a:r>
            <a:endParaRPr lang="en-GB" sz="2000" dirty="0"/>
          </a:p>
          <a:p>
            <a:pPr marL="0" indent="0">
              <a:buNone/>
            </a:pPr>
            <a:endParaRPr lang="en-UG" sz="2000" dirty="0"/>
          </a:p>
        </p:txBody>
      </p:sp>
    </p:spTree>
    <p:extLst>
      <p:ext uri="{BB962C8B-B14F-4D97-AF65-F5344CB8AC3E}">
        <p14:creationId xmlns:p14="http://schemas.microsoft.com/office/powerpoint/2010/main" val="2501649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F0DB-4925-AEFE-C73A-0E0DAF3F13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9FA11C-55CD-1430-DD3A-B647E29730C7}"/>
              </a:ext>
            </a:extLst>
          </p:cNvPr>
          <p:cNvSpPr>
            <a:spLocks noGrp="1"/>
          </p:cNvSpPr>
          <p:nvPr>
            <p:ph idx="1"/>
          </p:nvPr>
        </p:nvSpPr>
        <p:spPr>
          <a:xfrm>
            <a:off x="421695" y="467593"/>
            <a:ext cx="10837332" cy="5224724"/>
          </a:xfrm>
        </p:spPr>
        <p:txBody>
          <a:bodyPr>
            <a:normAutofit/>
          </a:bodyPr>
          <a:lstStyle/>
          <a:p>
            <a:pPr marL="0" indent="0">
              <a:buNone/>
            </a:pPr>
            <a:r>
              <a:rPr lang="en-GB" sz="2000" b="1" dirty="0"/>
              <a:t>Modelling &amp; Evaluation:</a:t>
            </a:r>
          </a:p>
          <a:p>
            <a:pPr marL="0" indent="0">
              <a:buNone/>
            </a:pPr>
            <a:r>
              <a:rPr lang="en-US" sz="2000" b="1" dirty="0"/>
              <a:t>Models Tested:</a:t>
            </a:r>
            <a:endParaRPr lang="en-US" sz="2000" dirty="0"/>
          </a:p>
          <a:p>
            <a:r>
              <a:rPr lang="en-US" sz="2000" dirty="0"/>
              <a:t>Linear Regression (baseline)</a:t>
            </a:r>
          </a:p>
          <a:p>
            <a:r>
              <a:rPr lang="en-US" sz="2000" dirty="0"/>
              <a:t>Random Forest (nonlinear benchmark)</a:t>
            </a:r>
          </a:p>
          <a:p>
            <a:r>
              <a:rPr lang="en-US" sz="2000" dirty="0"/>
              <a:t>Neural Network</a:t>
            </a:r>
          </a:p>
          <a:p>
            <a:pPr marL="0" indent="0">
              <a:buNone/>
            </a:pPr>
            <a:endParaRPr lang="en-US" sz="2000" dirty="0"/>
          </a:p>
          <a:p>
            <a:pPr marL="0" indent="0">
              <a:buNone/>
            </a:pPr>
            <a:r>
              <a:rPr lang="en-US" sz="2000" b="1" dirty="0"/>
              <a:t>Evaluation Metrics</a:t>
            </a:r>
            <a:endParaRPr lang="en-US" sz="2000" dirty="0"/>
          </a:p>
          <a:p>
            <a:r>
              <a:rPr lang="en-US" sz="2000" dirty="0"/>
              <a:t>Model performance was evaluated using Root Mean Square Error (RMSE) and Coefficient of Determination (R²)</a:t>
            </a:r>
          </a:p>
          <a:p>
            <a:r>
              <a:rPr lang="en-US" sz="2000" dirty="0"/>
              <a:t>RMSE provided an interpretable measure of prediction error in minutes, while R² quantified the proportion of variance explained</a:t>
            </a:r>
          </a:p>
          <a:p>
            <a:r>
              <a:rPr lang="en-US" sz="2000" dirty="0"/>
              <a:t>These metrics are standard for regression tasks and were applied consistently across the models to enable fair comparison.</a:t>
            </a:r>
            <a:endParaRPr lang="en-UG" sz="2000" dirty="0"/>
          </a:p>
        </p:txBody>
      </p:sp>
    </p:spTree>
    <p:extLst>
      <p:ext uri="{BB962C8B-B14F-4D97-AF65-F5344CB8AC3E}">
        <p14:creationId xmlns:p14="http://schemas.microsoft.com/office/powerpoint/2010/main" val="69982348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2634</TotalTime>
  <Words>1323</Words>
  <Application>Microsoft Office PowerPoint</Application>
  <PresentationFormat>Widescreen</PresentationFormat>
  <Paragraphs>233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Trebuchet MS</vt:lpstr>
      <vt:lpstr>Wingdings</vt:lpstr>
      <vt:lpstr>Wingdings 3</vt:lpstr>
      <vt:lpstr>Facet</vt:lpstr>
      <vt:lpstr>FLIGHT DELAY PREDICTION USING MACHINE LEARNING</vt:lpstr>
      <vt:lpstr>PROBLEM STATEMENT:</vt:lpstr>
      <vt:lpstr>PROJECT OBJECTIVES:</vt:lpstr>
      <vt:lpstr>DATASET OVERVIEW</vt:lpstr>
      <vt:lpstr>DATA DICTIONARY/DESCRIPTIONS</vt:lpstr>
      <vt:lpstr>PowerPoint Presentation</vt:lpstr>
      <vt:lpstr>KEY FEATURES</vt:lpstr>
      <vt:lpstr>EXPLORATORY DATA ANALYSIS</vt:lpstr>
      <vt:lpstr>PowerPoint Presentation</vt:lpstr>
      <vt:lpstr>PowerPoint Presentation</vt:lpstr>
      <vt:lpstr>Key Insights / Findings from EDA: </vt:lpstr>
      <vt:lpstr>MACHINE LEARNING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Namutebi Jamillah Mago [ MTN Uganda ]</dc:creator>
  <cp:lastModifiedBy>Namutebi Jamillah Mago [ MTN Uganda ]</cp:lastModifiedBy>
  <cp:revision>189</cp:revision>
  <dcterms:created xsi:type="dcterms:W3CDTF">2026-04-13T07:11:04Z</dcterms:created>
  <dcterms:modified xsi:type="dcterms:W3CDTF">2026-04-28T12:05:30Z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4310d7d-6047-4ff9-b5ce-71e5a0ff4d2b_Enabled">
    <vt:lpwstr>true</vt:lpwstr>
  </property>
  <property fmtid="{D5CDD505-2E9C-101B-9397-08002B2CF9AE}" pid="3" name="MSIP_Label_b4310d7d-6047-4ff9-b5ce-71e5a0ff4d2b_SetDate">
    <vt:lpwstr>2026-04-13T07:11:12Z</vt:lpwstr>
  </property>
  <property fmtid="{D5CDD505-2E9C-101B-9397-08002B2CF9AE}" pid="4" name="MSIP_Label_b4310d7d-6047-4ff9-b5ce-71e5a0ff4d2b_Method">
    <vt:lpwstr>Privileged</vt:lpwstr>
  </property>
  <property fmtid="{D5CDD505-2E9C-101B-9397-08002B2CF9AE}" pid="5" name="MSIP_Label_b4310d7d-6047-4ff9-b5ce-71e5a0ff4d2b_Name">
    <vt:lpwstr>b4310d7d-6047-4ff9-b5ce-71e5a0ff4d2b</vt:lpwstr>
  </property>
  <property fmtid="{D5CDD505-2E9C-101B-9397-08002B2CF9AE}" pid="6" name="MSIP_Label_b4310d7d-6047-4ff9-b5ce-71e5a0ff4d2b_SiteId">
    <vt:lpwstr>c9b9cb50-3644-4db4-a267-fa84df2f4ceb</vt:lpwstr>
  </property>
  <property fmtid="{D5CDD505-2E9C-101B-9397-08002B2CF9AE}" pid="7" name="MSIP_Label_b4310d7d-6047-4ff9-b5ce-71e5a0ff4d2b_ActionId">
    <vt:lpwstr>86af0abb-4a7f-4a02-b7c5-e8376a6d9a27</vt:lpwstr>
  </property>
  <property fmtid="{D5CDD505-2E9C-101B-9397-08002B2CF9AE}" pid="8" name="MSIP_Label_b4310d7d-6047-4ff9-b5ce-71e5a0ff4d2b_ContentBits">
    <vt:lpwstr>2</vt:lpwstr>
  </property>
  <property fmtid="{D5CDD505-2E9C-101B-9397-08002B2CF9AE}" pid="9" name="MSIP_Label_b4310d7d-6047-4ff9-b5ce-71e5a0ff4d2b_Tag">
    <vt:lpwstr>10, 0, 1, 1</vt:lpwstr>
  </property>
  <property fmtid="{D5CDD505-2E9C-101B-9397-08002B2CF9AE}" pid="10" name="ClassificationContentMarkingFooterLocations">
    <vt:lpwstr>Office Theme:8</vt:lpwstr>
  </property>
  <property fmtid="{D5CDD505-2E9C-101B-9397-08002B2CF9AE}" pid="11" name="ClassificationContentMarkingFooterText">
    <vt:lpwstr>Sensitivity: Public</vt:lpwstr>
  </property>
</Properties>
</file>